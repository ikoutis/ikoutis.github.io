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tags/tag38.xml" ContentType="application/vnd.openxmlformats-officedocument.presentationml.tags+xml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45.xml" ContentType="application/vnd.openxmlformats-officedocument.presentationml.tags+xml"/>
  <Override PartName="/ppt/notesSlides/notesSlide23.xml" ContentType="application/vnd.openxmlformats-officedocument.presentationml.notesSlide+xml"/>
  <Override PartName="/ppt/tags/tag63.xml" ContentType="application/vnd.openxmlformats-officedocument.presentationml.tags+xml"/>
  <Override PartName="/ppt/notesSlides/notesSlide12.xml" ContentType="application/vnd.openxmlformats-officedocument.presentationml.notesSlide+xml"/>
  <Override PartName="/ppt/tags/tag34.xml" ContentType="application/vnd.openxmlformats-officedocument.presentationml.tags+xml"/>
  <Override PartName="/ppt/tags/tag52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41.xml" ContentType="application/vnd.openxmlformats-officedocument.presentationml.tags+xml"/>
  <Override PartName="/ppt/tags/tag70.xml" ContentType="application/vnd.openxmlformats-officedocument.presentationml.tag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Default Extension="png" ContentType="image/png"/>
  <Default Extension="bin" ContentType="application/vnd.openxmlformats-officedocument.oleObject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tags/tag39.xml" ContentType="application/vnd.openxmlformats-officedocument.presentationml.tags+xml"/>
  <Default Extension="emf" ContentType="image/x-emf"/>
  <Override PartName="/ppt/notesSlides/notesSlide28.xml" ContentType="application/vnd.openxmlformats-officedocument.presentationml.notesSlide+xml"/>
  <Override PartName="/ppt/tags/tag68.xml" ContentType="application/vnd.openxmlformats-officedocument.presentationml.tag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ppt/notesSlides/notesSlide15.xml" ContentType="application/vnd.openxmlformats-officedocument.presentationml.notesSlide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57.xml" ContentType="application/vnd.openxmlformats-officedocument.presentationml.tags+xml"/>
  <Override PartName="/ppt/tags/tag66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notesSlides/notesSlide13.xml" ContentType="application/vnd.openxmlformats-officedocument.presentationml.notesSlide+xml"/>
  <Override PartName="/ppt/tags/tag35.xml" ContentType="application/vnd.openxmlformats-officedocument.presentationml.tags+xml"/>
  <Override PartName="/ppt/notesSlides/notesSlide22.xml" ContentType="application/vnd.openxmlformats-officedocument.presentationml.notesSlide+xml"/>
  <Override PartName="/ppt/tags/tag46.xml" ContentType="application/vnd.openxmlformats-officedocument.presentationml.tags+xml"/>
  <Override PartName="/ppt/tags/tag55.xml" ContentType="application/vnd.openxmlformats-officedocument.presentationml.tags+xml"/>
  <Override PartName="/ppt/tags/tag64.xml" ContentType="application/vnd.openxmlformats-officedocument.presentationml.tags+xml"/>
  <Override PartName="/ppt/slideLayouts/slideLayout10.xml" ContentType="application/vnd.openxmlformats-officedocument.presentationml.slideLayout+xml"/>
  <Override PartName="/ppt/tags/tag15.xml" ContentType="application/vnd.openxmlformats-officedocument.presentationml.tags+xml"/>
  <Override PartName="/ppt/notesSlides/notesSlide8.xml" ContentType="application/vnd.openxmlformats-officedocument.presentationml.notesSlide+xml"/>
  <Override PartName="/ppt/tags/tag24.xml" ContentType="application/vnd.openxmlformats-officedocument.presentationml.tags+xml"/>
  <Override PartName="/ppt/notesSlides/notesSlide11.xml" ContentType="application/vnd.openxmlformats-officedocument.presentationml.notesSlide+xml"/>
  <Override PartName="/ppt/tags/tag33.xml" ContentType="application/vnd.openxmlformats-officedocument.presentationml.tags+xml"/>
  <Override PartName="/ppt/notesSlides/notesSlide20.xml" ContentType="application/vnd.openxmlformats-officedocument.presentationml.notesSlide+xml"/>
  <Override PartName="/ppt/tags/tag44.xml" ContentType="application/vnd.openxmlformats-officedocument.presentationml.tags+xml"/>
  <Override PartName="/ppt/tags/tag53.xml" ContentType="application/vnd.openxmlformats-officedocument.presentationml.tags+xml"/>
  <Default Extension="vml" ContentType="application/vnd.openxmlformats-officedocument.vmlDrawing"/>
  <Override PartName="/ppt/tags/tag62.xml" ContentType="application/vnd.openxmlformats-officedocument.presentationml.tags+xml"/>
  <Override PartName="/ppt/tags/tag71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tags/tag40.xml" ContentType="application/vnd.openxmlformats-officedocument.presentationml.tags+xml"/>
  <Override PartName="/ppt/tags/tag42.xml" ContentType="application/vnd.openxmlformats-officedocument.presentationml.tags+xml"/>
  <Override PartName="/ppt/tags/tag51.xml" ContentType="application/vnd.openxmlformats-officedocument.presentationml.tags+xml"/>
  <Override PartName="/ppt/tags/tag60.xml" ContentType="application/vnd.openxmlformats-officedocument.presentationml.tag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tags/tag58.xml" ContentType="application/vnd.openxmlformats-officedocument.presentationml.tags+xml"/>
  <Override PartName="/ppt/tags/tag69.xml" ContentType="application/vnd.openxmlformats-officedocument.presentationml.tags+xml"/>
  <Default Extension="rels" ContentType="application/vnd.openxmlformats-package.relationships+xml"/>
  <Override PartName="/ppt/slides/slide23.xml" ContentType="application/vnd.openxmlformats-officedocument.presentationml.slide+xml"/>
  <Override PartName="/ppt/tags/tag29.xml" ContentType="application/vnd.openxmlformats-officedocument.presentationml.tags+xml"/>
  <Override PartName="/ppt/tags/tag47.xml" ContentType="application/vnd.openxmlformats-officedocument.presentationml.tags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18.xml" ContentType="application/vnd.openxmlformats-officedocument.presentationml.tags+xml"/>
  <Override PartName="/ppt/notesSlides/notesSlide14.xml" ContentType="application/vnd.openxmlformats-officedocument.presentationml.notesSlide+xml"/>
  <Override PartName="/ppt/tags/tag36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tags/tag14.xml" ContentType="application/vnd.openxmlformats-officedocument.presentationml.tags+xml"/>
  <Override PartName="/ppt/notesSlides/notesSlide9.xml" ContentType="application/vnd.openxmlformats-officedocument.presentationml.notesSlide+xml"/>
  <Override PartName="/ppt/tags/tag25.xml" ContentType="application/vnd.openxmlformats-officedocument.presentationml.tags+xml"/>
  <Override PartName="/ppt/notesSlides/notesSlide21.xml" ContentType="application/vnd.openxmlformats-officedocument.presentationml.notesSlide+xml"/>
  <Override PartName="/ppt/tags/tag43.xml" ContentType="application/vnd.openxmlformats-officedocument.presentationml.tags+xml"/>
  <Override PartName="/ppt/tags/tag6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tags/tag50.xml" ContentType="application/vnd.openxmlformats-officedocument.presentationml.tag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slides/slide24.xml" ContentType="application/vnd.openxmlformats-officedocument.presentationml.slide+xml"/>
  <Default Extension="jpeg" ContentType="image/jpeg"/>
  <Override PartName="/ppt/tags/tag3.xml" ContentType="application/vnd.openxmlformats-officedocument.presentationml.tags+xml"/>
  <Override PartName="/ppt/tags/tag59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392" r:id="rId1"/>
  </p:sldMasterIdLst>
  <p:notesMasterIdLst>
    <p:notesMasterId r:id="rId32"/>
  </p:notesMasterIdLst>
  <p:sldIdLst>
    <p:sldId id="256" r:id="rId2"/>
    <p:sldId id="329" r:id="rId3"/>
    <p:sldId id="257" r:id="rId4"/>
    <p:sldId id="277" r:id="rId5"/>
    <p:sldId id="265" r:id="rId6"/>
    <p:sldId id="279" r:id="rId7"/>
    <p:sldId id="280" r:id="rId8"/>
    <p:sldId id="282" r:id="rId9"/>
    <p:sldId id="326" r:id="rId10"/>
    <p:sldId id="291" r:id="rId11"/>
    <p:sldId id="292" r:id="rId12"/>
    <p:sldId id="327" r:id="rId13"/>
    <p:sldId id="300" r:id="rId14"/>
    <p:sldId id="301" r:id="rId15"/>
    <p:sldId id="302" r:id="rId16"/>
    <p:sldId id="303" r:id="rId17"/>
    <p:sldId id="307" r:id="rId18"/>
    <p:sldId id="306" r:id="rId19"/>
    <p:sldId id="308" r:id="rId20"/>
    <p:sldId id="310" r:id="rId21"/>
    <p:sldId id="328" r:id="rId22"/>
    <p:sldId id="314" r:id="rId23"/>
    <p:sldId id="315" r:id="rId24"/>
    <p:sldId id="316" r:id="rId25"/>
    <p:sldId id="319" r:id="rId26"/>
    <p:sldId id="264" r:id="rId27"/>
    <p:sldId id="325" r:id="rId28"/>
    <p:sldId id="330" r:id="rId29"/>
    <p:sldId id="331" r:id="rId30"/>
    <p:sldId id="332" r:id="rId31"/>
  </p:sldIdLst>
  <p:sldSz cx="9144000" cy="6858000" type="screen4x3"/>
  <p:notesSz cx="6858000" cy="9144000"/>
  <p:embeddedFontLst>
    <p:embeddedFont>
      <p:font typeface="Gill Sans MT" pitchFamily="34" charset="0"/>
      <p:regular r:id="rId33"/>
      <p:bold r:id="rId34"/>
      <p:italic r:id="rId35"/>
      <p:boldItalic r:id="rId36"/>
    </p:embeddedFont>
    <p:embeddedFont>
      <p:font typeface="Wingdings 2" pitchFamily="18" charset="2"/>
      <p:regular r:id="rId37"/>
    </p:embeddedFont>
    <p:embeddedFont>
      <p:font typeface="CMMI10" pitchFamily="34" charset="0"/>
      <p:regular r:id="rId38"/>
    </p:embeddedFont>
    <p:embeddedFont>
      <p:font typeface="CMR10" pitchFamily="34" charset="0"/>
      <p:regular r:id="rId39"/>
    </p:embeddedFont>
    <p:embeddedFont>
      <p:font typeface="CMMI7" pitchFamily="34" charset="0"/>
      <p:regular r:id="rId40"/>
    </p:embeddedFont>
    <p:embeddedFont>
      <p:font typeface="CMMI5" pitchFamily="34" charset="0"/>
      <p:regular r:id="rId41"/>
    </p:embeddedFont>
    <p:embeddedFont>
      <p:font typeface="Verdana" pitchFamily="34" charset="0"/>
      <p:regular r:id="rId42"/>
      <p:bold r:id="rId43"/>
      <p:italic r:id="rId44"/>
      <p:boldItalic r:id="rId45"/>
    </p:embeddedFont>
    <p:embeddedFont>
      <p:font typeface="新細明體" pitchFamily="18" charset="-120"/>
      <p:regular r:id="rId46"/>
    </p:embeddedFont>
    <p:embeddedFont>
      <p:font typeface="cmsy10" pitchFamily="34" charset="0"/>
      <p:regular r:id="rId47"/>
    </p:embeddedFont>
    <p:embeddedFont>
      <p:font typeface="Calibri" pitchFamily="34" charset="0"/>
      <p:regular r:id="rId48"/>
      <p:bold r:id="rId49"/>
      <p:italic r:id="rId50"/>
      <p:boldItalic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63" autoAdjust="0"/>
    <p:restoredTop sz="94714" autoAdjust="0"/>
  </p:normalViewPr>
  <p:slideViewPr>
    <p:cSldViewPr>
      <p:cViewPr varScale="1">
        <p:scale>
          <a:sx n="88" d="100"/>
          <a:sy n="88" d="100"/>
        </p:scale>
        <p:origin x="-53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9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font" Target="fonts/font19.fntdata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7DA80-A000-4413-A417-65CE098E591C}" type="datetimeFigureOut">
              <a:rPr lang="en-US" smtClean="0"/>
              <a:pPr/>
              <a:t>3/23/2009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0312D7-18AD-4A03-B703-847BB5FABE7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A2980D-F84B-4CCD-B3D5-672EC28C32CF}" type="slidenum">
              <a:rPr lang="en-US" smtClean="0"/>
              <a:pPr/>
              <a:t>5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A2980D-F84B-4CCD-B3D5-672EC28C32CF}" type="slidenum">
              <a:rPr lang="en-US" smtClean="0"/>
              <a:pPr/>
              <a:t>8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C4F392-1265-44D5-84CD-19001FCD6857}" type="slidenum">
              <a:rPr lang="en-US"/>
              <a:pPr/>
              <a:t>13</a:t>
            </a:fld>
            <a:endParaRPr lang="en-US"/>
          </a:p>
        </p:txBody>
      </p:sp>
      <p:sp>
        <p:nvSpPr>
          <p:cNvPr id="1207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7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C4F392-1265-44D5-84CD-19001FCD6857}" type="slidenum">
              <a:rPr lang="en-US"/>
              <a:pPr/>
              <a:t>14</a:t>
            </a:fld>
            <a:endParaRPr lang="en-US"/>
          </a:p>
        </p:txBody>
      </p:sp>
      <p:sp>
        <p:nvSpPr>
          <p:cNvPr id="1207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7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E7BCF0-3047-4C03-8DA7-93520366F24E}" type="slidenum">
              <a:rPr lang="en-US"/>
              <a:pPr/>
              <a:t>15</a:t>
            </a:fld>
            <a:endParaRPr lang="en-US"/>
          </a:p>
        </p:txBody>
      </p:sp>
      <p:sp>
        <p:nvSpPr>
          <p:cNvPr id="1267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7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D871BD-3994-4235-9AF2-074F86ABDD93}" type="slidenum">
              <a:rPr lang="en-US" smtClean="0"/>
              <a:pPr/>
              <a:t>26</a:t>
            </a:fld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312D7-18AD-4A03-B703-847BB5FABE72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45BF58-EB87-4C68-9F14-C63317240DE0}" type="slidenum">
              <a:rPr lang="en-US" smtClean="0"/>
              <a:pPr/>
              <a:t>28</a:t>
            </a:fld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0B8711-14B7-432D-94BA-36FDA3248096}" type="slidenum">
              <a:rPr lang="en-US" smtClean="0"/>
              <a:pPr/>
              <a:t>29</a:t>
            </a:fld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39677D8-122A-4E61-9597-F2E14774C925}" type="slidenum">
              <a:rPr lang="en-US" smtClean="0"/>
              <a:pPr/>
              <a:t>30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31538D-31D6-4106-8E66-22C52954C613}" type="datetimeFigureOut">
              <a:rPr lang="en-US" smtClean="0"/>
              <a:pPr/>
              <a:t>3/23/2009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60894D-B2E2-4ED7-905E-AF706FC5A0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31538D-31D6-4106-8E66-22C52954C613}" type="datetimeFigureOut">
              <a:rPr lang="en-US" smtClean="0"/>
              <a:pPr/>
              <a:t>3/23/2009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60894D-B2E2-4ED7-905E-AF706FC5A0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31538D-31D6-4106-8E66-22C52954C613}" type="datetimeFigureOut">
              <a:rPr lang="en-US" smtClean="0"/>
              <a:pPr/>
              <a:t>3/23/2009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60894D-B2E2-4ED7-905E-AF706FC5A0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31538D-31D6-4106-8E66-22C52954C613}" type="datetimeFigureOut">
              <a:rPr lang="en-US" smtClean="0"/>
              <a:pPr/>
              <a:t>3/23/2009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60894D-B2E2-4ED7-905E-AF706FC5A0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31538D-31D6-4106-8E66-22C52954C613}" type="datetimeFigureOut">
              <a:rPr lang="en-US" smtClean="0"/>
              <a:pPr/>
              <a:t>3/23/2009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60894D-B2E2-4ED7-905E-AF706FC5A0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31538D-31D6-4106-8E66-22C52954C613}" type="datetimeFigureOut">
              <a:rPr lang="en-US" smtClean="0"/>
              <a:pPr/>
              <a:t>3/23/2009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60894D-B2E2-4ED7-905E-AF706FC5A0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31538D-31D6-4106-8E66-22C52954C613}" type="datetimeFigureOut">
              <a:rPr lang="en-US" smtClean="0"/>
              <a:pPr/>
              <a:t>3/23/2009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60894D-B2E2-4ED7-905E-AF706FC5A0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31538D-31D6-4106-8E66-22C52954C613}" type="datetimeFigureOut">
              <a:rPr lang="en-US" smtClean="0"/>
              <a:pPr/>
              <a:t>3/23/2009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60894D-B2E2-4ED7-905E-AF706FC5A0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31538D-31D6-4106-8E66-22C52954C613}" type="datetimeFigureOut">
              <a:rPr lang="en-US" smtClean="0"/>
              <a:pPr/>
              <a:t>3/23/2009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60894D-B2E2-4ED7-905E-AF706FC5A0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31538D-31D6-4106-8E66-22C52954C613}" type="datetimeFigureOut">
              <a:rPr lang="en-US" smtClean="0"/>
              <a:pPr/>
              <a:t>3/23/2009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60894D-B2E2-4ED7-905E-AF706FC5A0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31538D-31D6-4106-8E66-22C52954C613}" type="datetimeFigureOut">
              <a:rPr lang="en-US" smtClean="0"/>
              <a:pPr/>
              <a:t>3/23/2009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60894D-B2E2-4ED7-905E-AF706FC5A0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3531538D-31D6-4106-8E66-22C52954C613}" type="datetimeFigureOut">
              <a:rPr lang="en-US" smtClean="0"/>
              <a:pPr/>
              <a:t>3/23/2009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CE60894D-B2E2-4ED7-905E-AF706FC5A0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93" r:id="rId1"/>
    <p:sldLayoutId id="2147484394" r:id="rId2"/>
    <p:sldLayoutId id="2147484395" r:id="rId3"/>
    <p:sldLayoutId id="2147484396" r:id="rId4"/>
    <p:sldLayoutId id="2147484397" r:id="rId5"/>
    <p:sldLayoutId id="2147484398" r:id="rId6"/>
    <p:sldLayoutId id="2147484399" r:id="rId7"/>
    <p:sldLayoutId id="2147484400" r:id="rId8"/>
    <p:sldLayoutId id="2147484401" r:id="rId9"/>
    <p:sldLayoutId id="2147484402" r:id="rId10"/>
    <p:sldLayoutId id="214748440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image" Target="../media/image4.png"/><Relationship Id="rId18" Type="http://schemas.openxmlformats.org/officeDocument/2006/relationships/image" Target="../media/image9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3.png"/><Relationship Id="rId17" Type="http://schemas.openxmlformats.org/officeDocument/2006/relationships/image" Target="../media/image8.png"/><Relationship Id="rId2" Type="http://schemas.openxmlformats.org/officeDocument/2006/relationships/tags" Target="../tags/tag3.xml"/><Relationship Id="rId16" Type="http://schemas.openxmlformats.org/officeDocument/2006/relationships/image" Target="../media/image7.png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image" Target="../media/image2.png"/><Relationship Id="rId5" Type="http://schemas.openxmlformats.org/officeDocument/2006/relationships/tags" Target="../tags/tag6.xml"/><Relationship Id="rId15" Type="http://schemas.openxmlformats.org/officeDocument/2006/relationships/image" Target="../media/image6.png"/><Relationship Id="rId10" Type="http://schemas.openxmlformats.org/officeDocument/2006/relationships/notesSlide" Target="../notesSlides/notesSlide5.xml"/><Relationship Id="rId4" Type="http://schemas.openxmlformats.org/officeDocument/2006/relationships/tags" Target="../tags/tag5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image" Target="../media/image3.png"/><Relationship Id="rId18" Type="http://schemas.openxmlformats.org/officeDocument/2006/relationships/image" Target="../media/image12.png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image" Target="../media/image2.png"/><Relationship Id="rId17" Type="http://schemas.openxmlformats.org/officeDocument/2006/relationships/image" Target="../media/image7.png"/><Relationship Id="rId2" Type="http://schemas.openxmlformats.org/officeDocument/2006/relationships/tags" Target="../tags/tag13.xml"/><Relationship Id="rId16" Type="http://schemas.openxmlformats.org/officeDocument/2006/relationships/image" Target="../media/image6.png"/><Relationship Id="rId20" Type="http://schemas.openxmlformats.org/officeDocument/2006/relationships/image" Target="../media/image14.pn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16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13.png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23.xml"/><Relationship Id="rId7" Type="http://schemas.openxmlformats.org/officeDocument/2006/relationships/notesSlide" Target="../notesSlides/notesSlide10.xml"/><Relationship Id="rId12" Type="http://schemas.openxmlformats.org/officeDocument/2006/relationships/image" Target="../media/image6.png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.png"/><Relationship Id="rId5" Type="http://schemas.openxmlformats.org/officeDocument/2006/relationships/tags" Target="../tags/tag25.xml"/><Relationship Id="rId10" Type="http://schemas.openxmlformats.org/officeDocument/2006/relationships/image" Target="../media/image3.png"/><Relationship Id="rId4" Type="http://schemas.openxmlformats.org/officeDocument/2006/relationships/tags" Target="../tags/tag24.xml"/><Relationship Id="rId9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30.xml"/><Relationship Id="rId7" Type="http://schemas.openxmlformats.org/officeDocument/2006/relationships/image" Target="../media/image18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7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6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image" Target="../media/image18.png"/><Relationship Id="rId17" Type="http://schemas.openxmlformats.org/officeDocument/2006/relationships/image" Target="../media/image31.png"/><Relationship Id="rId2" Type="http://schemas.openxmlformats.org/officeDocument/2006/relationships/tags" Target="../tags/tag39.xml"/><Relationship Id="rId16" Type="http://schemas.openxmlformats.org/officeDocument/2006/relationships/image" Target="../media/image30.png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image" Target="../media/image26.png"/><Relationship Id="rId5" Type="http://schemas.openxmlformats.org/officeDocument/2006/relationships/tags" Target="../tags/tag42.xml"/><Relationship Id="rId15" Type="http://schemas.openxmlformats.org/officeDocument/2006/relationships/image" Target="../media/image29.png"/><Relationship Id="rId10" Type="http://schemas.openxmlformats.org/officeDocument/2006/relationships/notesSlide" Target="../notesSlides/notesSlide22.xml"/><Relationship Id="rId4" Type="http://schemas.openxmlformats.org/officeDocument/2006/relationships/tags" Target="../tags/tag41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13" Type="http://schemas.openxmlformats.org/officeDocument/2006/relationships/image" Target="../media/image38.png"/><Relationship Id="rId3" Type="http://schemas.openxmlformats.org/officeDocument/2006/relationships/tags" Target="../tags/tag49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37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image" Target="../media/image36.png"/><Relationship Id="rId5" Type="http://schemas.openxmlformats.org/officeDocument/2006/relationships/tags" Target="../tags/tag51.xml"/><Relationship Id="rId10" Type="http://schemas.openxmlformats.org/officeDocument/2006/relationships/image" Target="../media/image35.png"/><Relationship Id="rId4" Type="http://schemas.openxmlformats.org/officeDocument/2006/relationships/tags" Target="../tags/tag50.xml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2.png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tags" Target="../tags/tag59.xml"/><Relationship Id="rId7" Type="http://schemas.openxmlformats.org/officeDocument/2006/relationships/notesSlide" Target="../notesSlides/notesSlide29.xml"/><Relationship Id="rId12" Type="http://schemas.openxmlformats.org/officeDocument/2006/relationships/image" Target="../media/image49.emf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8.png"/><Relationship Id="rId5" Type="http://schemas.openxmlformats.org/officeDocument/2006/relationships/tags" Target="../tags/tag61.xml"/><Relationship Id="rId10" Type="http://schemas.openxmlformats.org/officeDocument/2006/relationships/image" Target="../media/image47.png"/><Relationship Id="rId4" Type="http://schemas.openxmlformats.org/officeDocument/2006/relationships/tags" Target="../tags/tag60.xml"/><Relationship Id="rId9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image" Target="../media/image2.png"/><Relationship Id="rId18" Type="http://schemas.openxmlformats.org/officeDocument/2006/relationships/image" Target="../media/image50.png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notesSlide" Target="../notesSlides/notesSlide30.xml"/><Relationship Id="rId17" Type="http://schemas.openxmlformats.org/officeDocument/2006/relationships/image" Target="../media/image6.png"/><Relationship Id="rId2" Type="http://schemas.openxmlformats.org/officeDocument/2006/relationships/tags" Target="../tags/tag63.xml"/><Relationship Id="rId16" Type="http://schemas.openxmlformats.org/officeDocument/2006/relationships/image" Target="../media/image5.png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15" Type="http://schemas.openxmlformats.org/officeDocument/2006/relationships/image" Target="../media/image4.png"/><Relationship Id="rId10" Type="http://schemas.openxmlformats.org/officeDocument/2006/relationships/tags" Target="../tags/tag71.xml"/><Relationship Id="rId19" Type="http://schemas.openxmlformats.org/officeDocument/2006/relationships/image" Target="../media/image51.png"/><Relationship Id="rId4" Type="http://schemas.openxmlformats.org/officeDocument/2006/relationships/tags" Target="../tags/tag65.xml"/><Relationship Id="rId9" Type="http://schemas.openxmlformats.org/officeDocument/2006/relationships/tags" Target="../tags/tag70.xml"/><Relationship Id="rId1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The Combinatorial Multigrid Solver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Yiannis Koutis, Gary Miller</a:t>
            </a:r>
          </a:p>
          <a:p>
            <a:r>
              <a:rPr lang="en-US" dirty="0" smtClean="0"/>
              <a:t>Carnegie Mellon University </a:t>
            </a:r>
            <a:endParaRPr lang="en-US" dirty="0"/>
          </a:p>
        </p:txBody>
      </p:sp>
      <p:sp>
        <p:nvSpPr>
          <p:cNvPr id="5" name="TextBox 4"/>
          <p:cNvSpPr txBox="1"/>
          <p:nvPr>
            <p:custDataLst>
              <p:tags r:id="rId1"/>
            </p:custDataLst>
          </p:nvPr>
        </p:nvSpPr>
        <p:spPr>
          <a:xfrm>
            <a:off x="0" y="7112000"/>
            <a:ext cx="914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dirty="0" err="1" smtClean="0"/>
              <a:t>TexPoint</a:t>
            </a:r>
            <a:r>
              <a:rPr lang="en-US" smtClean="0"/>
              <a:t> fonts used in EMF. </a:t>
            </a:r>
          </a:p>
          <a:p>
            <a:r>
              <a:rPr lang="en-US" smtClean="0"/>
              <a:t>Read the TexPoint manual before you delete this box.: </a:t>
            </a:r>
            <a:r>
              <a:rPr lang="en-US" smtClean="0">
                <a:latin typeface="CMMI10"/>
              </a:rPr>
              <a:t>A</a:t>
            </a:r>
            <a:r>
              <a:rPr lang="en-US" smtClean="0">
                <a:latin typeface="CMR10"/>
              </a:rPr>
              <a:t>A</a:t>
            </a:r>
            <a:r>
              <a:rPr lang="en-US" smtClean="0">
                <a:latin typeface="CMMI7"/>
              </a:rPr>
              <a:t>A</a:t>
            </a:r>
            <a:r>
              <a:rPr lang="en-US" smtClean="0">
                <a:latin typeface="CMMI5"/>
              </a:rPr>
              <a:t>A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Where I am coming from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 smtClean="0"/>
              <a:t>Theoretical Computer Science Community</a:t>
            </a:r>
          </a:p>
          <a:p>
            <a:endParaRPr lang="en-US" sz="2400" dirty="0" smtClean="0"/>
          </a:p>
          <a:p>
            <a:r>
              <a:rPr lang="en-US" sz="2400" dirty="0" smtClean="0"/>
              <a:t>Studies asymptotic complexity of problems</a:t>
            </a:r>
          </a:p>
          <a:p>
            <a:r>
              <a:rPr lang="en-US" sz="2400" dirty="0" smtClean="0"/>
              <a:t>Prefers broad complexity statements over        specialized, conditional or experimental results</a:t>
            </a:r>
          </a:p>
          <a:p>
            <a:r>
              <a:rPr lang="en-US" sz="2400" dirty="0" smtClean="0"/>
              <a:t>Likes </a:t>
            </a:r>
            <a:r>
              <a:rPr lang="en-US" sz="2400" smtClean="0"/>
              <a:t>graph </a:t>
            </a:r>
            <a:r>
              <a:rPr lang="en-US" sz="2400" smtClean="0"/>
              <a:t>theory</a:t>
            </a:r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1752600" y="4840069"/>
            <a:ext cx="6172200" cy="646331"/>
          </a:xfrm>
          <a:prstGeom prst="rect">
            <a:avLst/>
          </a:prstGeom>
          <a:noFill/>
          <a:ln w="25400">
            <a:solidFill>
              <a:srgbClr val="0070C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Any planar SPD system can be solved directly </a:t>
            </a:r>
          </a:p>
          <a:p>
            <a:pPr algn="ctr"/>
            <a:r>
              <a:rPr lang="en-US" b="1" dirty="0" smtClean="0"/>
              <a:t>in time </a:t>
            </a:r>
            <a:r>
              <a:rPr lang="en-US" b="1" dirty="0" smtClean="0">
                <a:latin typeface="Gill Sans MT"/>
              </a:rPr>
              <a:t>O(n</a:t>
            </a:r>
            <a:r>
              <a:rPr lang="en-US" b="1" baseline="30000" dirty="0" smtClean="0">
                <a:latin typeface="Gill Sans MT"/>
              </a:rPr>
              <a:t>1.5</a:t>
            </a:r>
            <a:r>
              <a:rPr lang="en-US" b="1" dirty="0" smtClean="0"/>
              <a:t>)  </a:t>
            </a:r>
            <a:r>
              <a:rPr lang="en-US" dirty="0" smtClean="0"/>
              <a:t>[LRT]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CMG: A linear system solver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dirty="0" smtClean="0"/>
          </a:p>
          <a:p>
            <a:r>
              <a:rPr lang="en-US" sz="2000" dirty="0" smtClean="0"/>
              <a:t>What kind of linear systems?</a:t>
            </a:r>
          </a:p>
          <a:p>
            <a:endParaRPr lang="en-US" sz="2000" dirty="0" smtClean="0"/>
          </a:p>
          <a:p>
            <a:r>
              <a:rPr lang="en-US" sz="2000" dirty="0" smtClean="0"/>
              <a:t>Graph Laplacians</a:t>
            </a:r>
          </a:p>
          <a:p>
            <a:pPr lvl="1"/>
            <a:r>
              <a:rPr lang="en-US" sz="2000" dirty="0" smtClean="0"/>
              <a:t>Symmetric</a:t>
            </a:r>
          </a:p>
          <a:p>
            <a:pPr lvl="1"/>
            <a:r>
              <a:rPr lang="en-US" sz="2000" dirty="0" smtClean="0"/>
              <a:t>Negative off-diagonals</a:t>
            </a:r>
          </a:p>
          <a:p>
            <a:pPr lvl="1"/>
            <a:r>
              <a:rPr lang="en-US" sz="2000" dirty="0" smtClean="0"/>
              <a:t>Zero row sums</a:t>
            </a:r>
          </a:p>
          <a:p>
            <a:pPr lvl="1"/>
            <a:endParaRPr lang="en-US" sz="2000" dirty="0" smtClean="0"/>
          </a:p>
          <a:p>
            <a:r>
              <a:rPr lang="en-US" sz="2000" b="1" dirty="0" smtClean="0">
                <a:solidFill>
                  <a:srgbClr val="FF0000"/>
                </a:solidFill>
              </a:rPr>
              <a:t>An AMG-like goal:</a:t>
            </a:r>
            <a:r>
              <a:rPr lang="en-US" sz="2000" b="1" dirty="0" smtClean="0"/>
              <a:t> </a:t>
            </a:r>
            <a:r>
              <a:rPr lang="en-US" sz="2000" dirty="0" smtClean="0"/>
              <a:t> A two-level method with </a:t>
            </a:r>
            <a:r>
              <a:rPr lang="en-US" sz="2000" b="1" dirty="0" smtClean="0"/>
              <a:t>provable</a:t>
            </a:r>
            <a:r>
              <a:rPr lang="en-US" sz="2000" dirty="0" smtClean="0"/>
              <a:t> properties for an </a:t>
            </a:r>
            <a:r>
              <a:rPr lang="en-US" sz="2000" b="1" dirty="0" smtClean="0"/>
              <a:t>arbitrary </a:t>
            </a:r>
            <a:r>
              <a:rPr lang="en-US" sz="2000" dirty="0" smtClean="0"/>
              <a:t>weighted</a:t>
            </a:r>
            <a:r>
              <a:rPr lang="en-US" sz="2000" b="1" dirty="0" smtClean="0"/>
              <a:t> </a:t>
            </a:r>
            <a:r>
              <a:rPr lang="en-US" sz="2000" dirty="0" smtClean="0"/>
              <a:t>sparse Laplacian.</a:t>
            </a:r>
          </a:p>
          <a:p>
            <a:pPr lvl="1"/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Laplacians in</a:t>
            </a:r>
            <a:br>
              <a:rPr lang="en-US" sz="3600" dirty="0" smtClean="0"/>
            </a:br>
            <a:r>
              <a:rPr lang="en-US" sz="3600" dirty="0" smtClean="0"/>
              <a:t>efficient algebraic reductions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sz="2600" dirty="0" smtClean="0"/>
          </a:p>
        </p:txBody>
      </p:sp>
      <p:sp>
        <p:nvSpPr>
          <p:cNvPr id="4" name="Oval 3"/>
          <p:cNvSpPr/>
          <p:nvPr/>
        </p:nvSpPr>
        <p:spPr>
          <a:xfrm>
            <a:off x="3200400" y="3429000"/>
            <a:ext cx="2057400" cy="762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Laplacian</a:t>
            </a:r>
            <a:endParaRPr lang="en-US" sz="1600" b="1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1524000" y="1905000"/>
            <a:ext cx="4495800" cy="1635591"/>
            <a:chOff x="1524000" y="1905000"/>
            <a:chExt cx="4495800" cy="1635591"/>
          </a:xfrm>
        </p:grpSpPr>
        <p:sp>
          <p:nvSpPr>
            <p:cNvPr id="5" name="Oval 4"/>
            <p:cNvSpPr/>
            <p:nvPr/>
          </p:nvSpPr>
          <p:spPr>
            <a:xfrm>
              <a:off x="1524000" y="2514600"/>
              <a:ext cx="1905000" cy="6858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Laplacian</a:t>
              </a:r>
            </a:p>
            <a:p>
              <a:pPr algn="ctr"/>
              <a:r>
                <a:rPr lang="en-US" sz="1400" b="1" dirty="0" smtClean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+</a:t>
              </a:r>
            </a:p>
            <a:p>
              <a:pPr algn="ctr"/>
              <a:r>
                <a:rPr lang="en-US" sz="1400" b="1" dirty="0" smtClean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Diagonal</a:t>
              </a:r>
              <a:endParaRPr lang="en-US" sz="1400" b="1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cxnSp>
          <p:nvCxnSpPr>
            <p:cNvPr id="7" name="Straight Arrow Connector 6"/>
            <p:cNvCxnSpPr>
              <a:stCxn id="5" idx="5"/>
              <a:endCxn id="4" idx="1"/>
            </p:cNvCxnSpPr>
            <p:nvPr/>
          </p:nvCxnSpPr>
          <p:spPr>
            <a:xfrm rot="16200000" flipH="1">
              <a:off x="3105547" y="3144439"/>
              <a:ext cx="440625" cy="35168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3810000" y="1905000"/>
              <a:ext cx="2209800" cy="762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Flip </a:t>
              </a:r>
            </a:p>
            <a:p>
              <a:pPr algn="ctr"/>
              <a:r>
                <a:rPr lang="en-US" sz="1400" b="1" dirty="0" smtClean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off-diagonal </a:t>
              </a:r>
            </a:p>
            <a:p>
              <a:pPr algn="ctr"/>
              <a:r>
                <a:rPr lang="en-US" sz="1400" b="1" dirty="0" smtClean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signs</a:t>
              </a:r>
              <a:endParaRPr lang="en-US" sz="1400" b="1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cxnSp>
          <p:nvCxnSpPr>
            <p:cNvPr id="9" name="Straight Arrow Connector 8"/>
            <p:cNvCxnSpPr/>
            <p:nvPr/>
          </p:nvCxnSpPr>
          <p:spPr>
            <a:xfrm rot="10800000" flipV="1">
              <a:off x="3352800" y="2438400"/>
              <a:ext cx="533400" cy="3048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5257801" y="2667000"/>
            <a:ext cx="3047999" cy="1142999"/>
            <a:chOff x="5257801" y="2667000"/>
            <a:chExt cx="3047999" cy="1142999"/>
          </a:xfrm>
        </p:grpSpPr>
        <p:sp>
          <p:nvSpPr>
            <p:cNvPr id="13" name="Oval 12"/>
            <p:cNvSpPr/>
            <p:nvPr/>
          </p:nvSpPr>
          <p:spPr>
            <a:xfrm>
              <a:off x="5486400" y="2667000"/>
              <a:ext cx="2819400" cy="9144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smtClean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SPD</a:t>
              </a:r>
              <a:r>
                <a:rPr lang="en-US" sz="1400" b="1" baseline="30000" dirty="0" smtClean="0">
                  <a:solidFill>
                    <a:schemeClr val="tx1"/>
                  </a:solidFill>
                  <a:latin typeface="Verdana"/>
                  <a:ea typeface="Verdana" pitchFamily="34" charset="0"/>
                  <a:cs typeface="Verdana" pitchFamily="34" charset="0"/>
                </a:rPr>
                <a:t>*</a:t>
              </a:r>
            </a:p>
            <a:p>
              <a:pPr algn="ctr"/>
              <a:r>
                <a:rPr lang="en-US" sz="1400" b="1" dirty="0" smtClean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negative</a:t>
              </a:r>
            </a:p>
            <a:p>
              <a:pPr algn="ctr"/>
              <a:r>
                <a:rPr lang="en-US" sz="1400" b="1" dirty="0" smtClean="0">
                  <a:solidFill>
                    <a:schemeClr val="tx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off-diagonals</a:t>
              </a:r>
              <a:endParaRPr lang="en-US" sz="1400" b="1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endParaRPr>
            </a:p>
          </p:txBody>
        </p:sp>
        <p:cxnSp>
          <p:nvCxnSpPr>
            <p:cNvPr id="14" name="Straight Arrow Connector 13"/>
            <p:cNvCxnSpPr>
              <a:stCxn id="13" idx="3"/>
              <a:endCxn id="4" idx="6"/>
            </p:cNvCxnSpPr>
            <p:nvPr/>
          </p:nvCxnSpPr>
          <p:spPr>
            <a:xfrm rot="5400000">
              <a:off x="5397291" y="3307998"/>
              <a:ext cx="362511" cy="641492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Arrow Connector 10"/>
          <p:cNvCxnSpPr>
            <a:endCxn id="4" idx="3"/>
          </p:cNvCxnSpPr>
          <p:nvPr/>
        </p:nvCxnSpPr>
        <p:spPr>
          <a:xfrm flipV="1">
            <a:off x="2895600" y="4079408"/>
            <a:ext cx="606099" cy="49259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676400" y="4572000"/>
            <a:ext cx="2133600" cy="8382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FED’s of </a:t>
            </a:r>
          </a:p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scalar elliptic PDEs</a:t>
            </a:r>
            <a:endParaRPr lang="en-US" sz="1400" b="1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15000" y="1600200"/>
            <a:ext cx="990600" cy="307777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Gremban</a:t>
            </a:r>
            <a:endParaRPr lang="en-US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3733800" y="5257800"/>
            <a:ext cx="2438400" cy="738664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Reitzinger</a:t>
            </a:r>
            <a:r>
              <a:rPr lang="en-US" sz="1400" dirty="0" smtClean="0"/>
              <a:t> </a:t>
            </a:r>
          </a:p>
          <a:p>
            <a:r>
              <a:rPr lang="en-US" sz="1400" dirty="0" err="1" smtClean="0"/>
              <a:t>Boman</a:t>
            </a:r>
            <a:r>
              <a:rPr lang="en-US" sz="1400" dirty="0" smtClean="0"/>
              <a:t>, Hendrickson, </a:t>
            </a:r>
            <a:r>
              <a:rPr lang="en-US" sz="1400" dirty="0" err="1" smtClean="0"/>
              <a:t>Vavasis</a:t>
            </a:r>
            <a:endParaRPr lang="en-US" sz="1400" dirty="0" smtClean="0"/>
          </a:p>
          <a:p>
            <a:r>
              <a:rPr lang="en-US" sz="1400" dirty="0" err="1" smtClean="0"/>
              <a:t>Avron</a:t>
            </a:r>
            <a:r>
              <a:rPr lang="en-US" sz="1400" dirty="0" smtClean="0"/>
              <a:t>, </a:t>
            </a:r>
            <a:r>
              <a:rPr lang="en-US" sz="1400" dirty="0" err="1" smtClean="0"/>
              <a:t>Chen,Shklarski</a:t>
            </a:r>
            <a:r>
              <a:rPr lang="en-US" sz="1400" dirty="0" smtClean="0"/>
              <a:t>, Toledo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6934200" y="2286000"/>
            <a:ext cx="1524000" cy="307777"/>
          </a:xfrm>
          <a:prstGeom prst="rect">
            <a:avLst/>
          </a:prstGeom>
          <a:noFill/>
          <a:ln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Spielman</a:t>
            </a:r>
            <a:r>
              <a:rPr lang="en-US" sz="1400" dirty="0" smtClean="0"/>
              <a:t>, </a:t>
            </a:r>
            <a:r>
              <a:rPr lang="en-US" sz="1400" dirty="0" err="1" smtClean="0"/>
              <a:t>Daitch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/>
        </p:nvGrpSpPr>
        <p:grpSpPr>
          <a:xfrm>
            <a:off x="1447800" y="2321424"/>
            <a:ext cx="2263676" cy="1522630"/>
            <a:chOff x="1447800" y="2321424"/>
            <a:chExt cx="2263676" cy="1522630"/>
          </a:xfrm>
        </p:grpSpPr>
        <p:sp>
          <p:nvSpPr>
            <p:cNvPr id="37" name="Lightning Bolt 36"/>
            <p:cNvSpPr/>
            <p:nvPr/>
          </p:nvSpPr>
          <p:spPr>
            <a:xfrm rot="17674320">
              <a:off x="1399244" y="2682740"/>
              <a:ext cx="595915" cy="352077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Lightning Bolt 37"/>
            <p:cNvSpPr/>
            <p:nvPr/>
          </p:nvSpPr>
          <p:spPr>
            <a:xfrm>
              <a:off x="1447800" y="3276600"/>
              <a:ext cx="595915" cy="352077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Lightning Bolt 40"/>
            <p:cNvSpPr/>
            <p:nvPr/>
          </p:nvSpPr>
          <p:spPr>
            <a:xfrm rot="19497324">
              <a:off x="2637866" y="3491977"/>
              <a:ext cx="595915" cy="352077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Lightning Bolt 41"/>
            <p:cNvSpPr/>
            <p:nvPr/>
          </p:nvSpPr>
          <p:spPr>
            <a:xfrm rot="21352029">
              <a:off x="2606521" y="2840919"/>
              <a:ext cx="578160" cy="457109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Lightning Bolt 42"/>
            <p:cNvSpPr/>
            <p:nvPr/>
          </p:nvSpPr>
          <p:spPr>
            <a:xfrm rot="3094229">
              <a:off x="3193842" y="2883162"/>
              <a:ext cx="578160" cy="457109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Lightning Bolt 43"/>
            <p:cNvSpPr/>
            <p:nvPr/>
          </p:nvSpPr>
          <p:spPr>
            <a:xfrm rot="19345650">
              <a:off x="2511939" y="2321424"/>
              <a:ext cx="578160" cy="476345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Random Walk Matrix:</a:t>
            </a:r>
          </a:p>
          <a:p>
            <a:r>
              <a:rPr lang="en-US" sz="2000" dirty="0" smtClean="0"/>
              <a:t>Electrical network, Ohm’s law: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</p:txBody>
      </p:sp>
      <p:sp>
        <p:nvSpPr>
          <p:cNvPr id="16399" name="Oval 8"/>
          <p:cNvSpPr>
            <a:spLocks noChangeArrowheads="1"/>
          </p:cNvSpPr>
          <p:nvPr/>
        </p:nvSpPr>
        <p:spPr bwMode="auto">
          <a:xfrm>
            <a:off x="3276600" y="2362200"/>
            <a:ext cx="304800" cy="304800"/>
          </a:xfrm>
          <a:prstGeom prst="ellipse">
            <a:avLst/>
          </a:prstGeom>
          <a:solidFill>
            <a:schemeClr val="bg2">
              <a:alpha val="18823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Laplacians of weighted graphs</a:t>
            </a:r>
          </a:p>
        </p:txBody>
      </p: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1250764" y="2514601"/>
            <a:ext cx="2222873" cy="1035238"/>
            <a:chOff x="2164977" y="2819401"/>
            <a:chExt cx="2223247" cy="1035425"/>
          </a:xfrm>
        </p:grpSpPr>
        <p:cxnSp>
          <p:nvCxnSpPr>
            <p:cNvPr id="16416" name="Straight Connector 11"/>
            <p:cNvCxnSpPr>
              <a:cxnSpLocks noChangeShapeType="1"/>
              <a:stCxn id="16396" idx="7"/>
              <a:endCxn id="16397" idx="3"/>
            </p:cNvCxnSpPr>
            <p:nvPr/>
          </p:nvCxnSpPr>
          <p:spPr bwMode="auto">
            <a:xfrm rot="5400000" flipH="1" flipV="1">
              <a:off x="2393612" y="2698547"/>
              <a:ext cx="470359" cy="92763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6417" name="Straight Connector 17"/>
            <p:cNvCxnSpPr>
              <a:cxnSpLocks noChangeShapeType="1"/>
              <a:stCxn id="16397" idx="6"/>
              <a:endCxn id="16399" idx="2"/>
            </p:cNvCxnSpPr>
            <p:nvPr/>
          </p:nvCxnSpPr>
          <p:spPr bwMode="auto">
            <a:xfrm>
              <a:off x="3352813" y="2819401"/>
              <a:ext cx="838341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6418" name="Straight Connector 33"/>
            <p:cNvCxnSpPr>
              <a:cxnSpLocks noChangeShapeType="1"/>
              <a:stCxn id="16397" idx="5"/>
              <a:endCxn id="16400" idx="1"/>
            </p:cNvCxnSpPr>
            <p:nvPr/>
          </p:nvCxnSpPr>
          <p:spPr bwMode="auto">
            <a:xfrm rot="16200000" flipH="1">
              <a:off x="3384375" y="2850977"/>
              <a:ext cx="927642" cy="108005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16396" name="Oval 5"/>
          <p:cNvSpPr>
            <a:spLocks noChangeArrowheads="1"/>
          </p:cNvSpPr>
          <p:nvPr/>
        </p:nvSpPr>
        <p:spPr bwMode="auto">
          <a:xfrm>
            <a:off x="990600" y="3048000"/>
            <a:ext cx="304800" cy="304800"/>
          </a:xfrm>
          <a:prstGeom prst="ellipse">
            <a:avLst/>
          </a:prstGeom>
          <a:solidFill>
            <a:schemeClr val="bg2">
              <a:alpha val="18823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7" name="Oval 6"/>
          <p:cNvSpPr>
            <a:spLocks noChangeArrowheads="1"/>
          </p:cNvSpPr>
          <p:nvPr/>
        </p:nvSpPr>
        <p:spPr bwMode="auto">
          <a:xfrm>
            <a:off x="2133600" y="2362200"/>
            <a:ext cx="304800" cy="304800"/>
          </a:xfrm>
          <a:prstGeom prst="ellipse">
            <a:avLst/>
          </a:prstGeom>
          <a:solidFill>
            <a:schemeClr val="bg2">
              <a:alpha val="18823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8" name="Oval 7"/>
          <p:cNvSpPr>
            <a:spLocks noChangeArrowheads="1"/>
          </p:cNvSpPr>
          <p:nvPr/>
        </p:nvSpPr>
        <p:spPr bwMode="auto">
          <a:xfrm>
            <a:off x="2133600" y="3505200"/>
            <a:ext cx="304800" cy="304800"/>
          </a:xfrm>
          <a:prstGeom prst="ellipse">
            <a:avLst/>
          </a:prstGeom>
          <a:solidFill>
            <a:schemeClr val="bg2">
              <a:alpha val="18823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Oval 9"/>
          <p:cNvSpPr>
            <a:spLocks noChangeArrowheads="1"/>
          </p:cNvSpPr>
          <p:nvPr/>
        </p:nvSpPr>
        <p:spPr bwMode="auto">
          <a:xfrm>
            <a:off x="3429000" y="3505200"/>
            <a:ext cx="304800" cy="304800"/>
          </a:xfrm>
          <a:prstGeom prst="ellipse">
            <a:avLst/>
          </a:prstGeom>
          <a:solidFill>
            <a:schemeClr val="bg2">
              <a:alpha val="18823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6401" name="Straight Connector 14"/>
          <p:cNvCxnSpPr>
            <a:cxnSpLocks noChangeShapeType="1"/>
            <a:stCxn id="16396" idx="5"/>
            <a:endCxn id="16398" idx="1"/>
          </p:cNvCxnSpPr>
          <p:nvPr/>
        </p:nvCxnSpPr>
        <p:spPr bwMode="auto">
          <a:xfrm rot="16200000" flipH="1">
            <a:off x="1593850" y="2965450"/>
            <a:ext cx="241300" cy="92710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402" name="Straight Connector 22"/>
          <p:cNvCxnSpPr>
            <a:cxnSpLocks noChangeShapeType="1"/>
            <a:stCxn id="16398" idx="6"/>
            <a:endCxn id="16400" idx="2"/>
          </p:cNvCxnSpPr>
          <p:nvPr/>
        </p:nvCxnSpPr>
        <p:spPr bwMode="auto">
          <a:xfrm>
            <a:off x="2438400" y="3657600"/>
            <a:ext cx="990600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6403" name="TextBox 27"/>
          <p:cNvSpPr txBox="1">
            <a:spLocks noChangeArrowheads="1"/>
          </p:cNvSpPr>
          <p:nvPr/>
        </p:nvSpPr>
        <p:spPr bwMode="auto">
          <a:xfrm>
            <a:off x="1295400" y="2587625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2</a:t>
            </a:r>
          </a:p>
        </p:txBody>
      </p:sp>
      <p:sp>
        <p:nvSpPr>
          <p:cNvPr id="16404" name="TextBox 28"/>
          <p:cNvSpPr txBox="1">
            <a:spLocks noChangeArrowheads="1"/>
          </p:cNvSpPr>
          <p:nvPr/>
        </p:nvSpPr>
        <p:spPr bwMode="auto">
          <a:xfrm>
            <a:off x="1447800" y="3548063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20</a:t>
            </a:r>
          </a:p>
        </p:txBody>
      </p:sp>
      <p:sp>
        <p:nvSpPr>
          <p:cNvPr id="16405" name="TextBox 29"/>
          <p:cNvSpPr txBox="1">
            <a:spLocks noChangeArrowheads="1"/>
          </p:cNvSpPr>
          <p:nvPr/>
        </p:nvSpPr>
        <p:spPr bwMode="auto">
          <a:xfrm>
            <a:off x="2667000" y="3700463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15</a:t>
            </a:r>
          </a:p>
        </p:txBody>
      </p:sp>
      <p:sp>
        <p:nvSpPr>
          <p:cNvPr id="16406" name="TextBox 30"/>
          <p:cNvSpPr txBox="1">
            <a:spLocks noChangeArrowheads="1"/>
          </p:cNvSpPr>
          <p:nvPr/>
        </p:nvSpPr>
        <p:spPr bwMode="auto">
          <a:xfrm>
            <a:off x="2590800" y="2206625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30</a:t>
            </a:r>
          </a:p>
        </p:txBody>
      </p:sp>
      <p:sp>
        <p:nvSpPr>
          <p:cNvPr id="16407" name="TextBox 31"/>
          <p:cNvSpPr txBox="1">
            <a:spLocks noChangeArrowheads="1"/>
          </p:cNvSpPr>
          <p:nvPr/>
        </p:nvSpPr>
        <p:spPr bwMode="auto">
          <a:xfrm>
            <a:off x="2971800" y="2743200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/>
              <a:t>1</a:t>
            </a:r>
          </a:p>
        </p:txBody>
      </p:sp>
      <p:pic>
        <p:nvPicPr>
          <p:cNvPr id="16409" name="Picture 44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rcRect/>
          <a:stretch>
            <a:fillRect/>
          </a:stretch>
        </p:blipFill>
        <p:spPr bwMode="auto">
          <a:xfrm>
            <a:off x="914400" y="3479800"/>
            <a:ext cx="2286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410" name="Picture 46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rcRect/>
          <a:stretch>
            <a:fillRect/>
          </a:stretch>
        </p:blipFill>
        <p:spPr bwMode="auto">
          <a:xfrm>
            <a:off x="2197100" y="3937000"/>
            <a:ext cx="2540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411" name="Picture 48" descr="TP_tmp.em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rcRect/>
          <a:stretch>
            <a:fillRect/>
          </a:stretch>
        </p:blipFill>
        <p:spPr bwMode="auto">
          <a:xfrm>
            <a:off x="3554413" y="3937000"/>
            <a:ext cx="255587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412" name="Picture 57" descr="TP_tmp.emf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/>
          <a:srcRect/>
          <a:stretch>
            <a:fillRect/>
          </a:stretch>
        </p:blipFill>
        <p:spPr bwMode="auto">
          <a:xfrm>
            <a:off x="2057400" y="2057400"/>
            <a:ext cx="255588" cy="17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413" name="Picture 60" descr="TP_tmp.emf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/>
          <a:srcRect/>
          <a:stretch>
            <a:fillRect/>
          </a:stretch>
        </p:blipFill>
        <p:spPr bwMode="auto">
          <a:xfrm>
            <a:off x="3325813" y="2106613"/>
            <a:ext cx="255587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6414" name="Straight Connector 111"/>
          <p:cNvCxnSpPr>
            <a:cxnSpLocks noChangeShapeType="1"/>
            <a:endCxn id="16400" idx="0"/>
          </p:cNvCxnSpPr>
          <p:nvPr/>
        </p:nvCxnSpPr>
        <p:spPr bwMode="auto">
          <a:xfrm rot="16200000" flipH="1">
            <a:off x="3086100" y="3009900"/>
            <a:ext cx="838200" cy="15240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6415" name="TextBox 115"/>
          <p:cNvSpPr txBox="1">
            <a:spLocks noChangeArrowheads="1"/>
          </p:cNvSpPr>
          <p:nvPr/>
        </p:nvSpPr>
        <p:spPr bwMode="auto">
          <a:xfrm>
            <a:off x="3505200" y="2895600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/>
              <a:t>1</a:t>
            </a:r>
          </a:p>
        </p:txBody>
      </p:sp>
      <p:pic>
        <p:nvPicPr>
          <p:cNvPr id="46" name="Picture 45" descr="TP_tmp.bmp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/>
          <a:stretch>
            <a:fillRect/>
          </a:stretch>
        </p:blipFill>
        <p:spPr bwMode="auto">
          <a:xfrm>
            <a:off x="4353141" y="2422525"/>
            <a:ext cx="3790518" cy="1337135"/>
          </a:xfrm>
          <a:prstGeom prst="rect">
            <a:avLst/>
          </a:prstGeom>
          <a:noFill/>
          <a:ln/>
          <a:effectLst/>
        </p:spPr>
      </p:pic>
      <p:sp>
        <p:nvSpPr>
          <p:cNvPr id="39" name="Oval 38"/>
          <p:cNvSpPr>
            <a:spLocks noChangeArrowheads="1"/>
          </p:cNvSpPr>
          <p:nvPr/>
        </p:nvSpPr>
        <p:spPr bwMode="auto">
          <a:xfrm>
            <a:off x="1447800" y="3505200"/>
            <a:ext cx="457200" cy="381000"/>
          </a:xfrm>
          <a:prstGeom prst="ellipse">
            <a:avLst/>
          </a:prstGeom>
          <a:solidFill>
            <a:srgbClr val="FFFFFF">
              <a:alpha val="18823"/>
            </a:srgbClr>
          </a:solidFill>
          <a:ln w="28575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Oval 39"/>
          <p:cNvSpPr>
            <a:spLocks noChangeArrowheads="1"/>
          </p:cNvSpPr>
          <p:nvPr/>
        </p:nvSpPr>
        <p:spPr bwMode="auto">
          <a:xfrm>
            <a:off x="5715000" y="2362200"/>
            <a:ext cx="457200" cy="381000"/>
          </a:xfrm>
          <a:prstGeom prst="ellipse">
            <a:avLst/>
          </a:prstGeom>
          <a:solidFill>
            <a:srgbClr val="FFFFFF">
              <a:alpha val="18823"/>
            </a:srgbClr>
          </a:solidFill>
          <a:ln w="28575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8" name="Straight Connector 47"/>
          <p:cNvCxnSpPr>
            <a:cxnSpLocks noChangeShapeType="1"/>
            <a:stCxn id="39" idx="7"/>
            <a:endCxn id="40" idx="2"/>
          </p:cNvCxnSpPr>
          <p:nvPr/>
        </p:nvCxnSpPr>
        <p:spPr bwMode="auto">
          <a:xfrm rot="5400000" flipH="1" flipV="1">
            <a:off x="3272631" y="1118394"/>
            <a:ext cx="1008063" cy="3876675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lgDash"/>
            <a:round/>
            <a:headEnd/>
            <a:tailEnd type="triangle" w="lg" len="lg"/>
          </a:ln>
        </p:spPr>
      </p:cxnSp>
      <p:pic>
        <p:nvPicPr>
          <p:cNvPr id="36" name="Picture 35" descr="TP_tmp.bmp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/>
          <a:stretch>
            <a:fillRect/>
          </a:stretch>
        </p:blipFill>
        <p:spPr>
          <a:xfrm>
            <a:off x="4267200" y="4953000"/>
            <a:ext cx="659894" cy="228600"/>
          </a:xfrm>
          <a:prstGeom prst="rect">
            <a:avLst/>
          </a:prstGeom>
        </p:spPr>
      </p:pic>
      <p:pic>
        <p:nvPicPr>
          <p:cNvPr id="55" name="Picture 54" descr="TP_tmp.bmp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8" cstate="print"/>
          <a:stretch>
            <a:fillRect/>
          </a:stretch>
        </p:blipFill>
        <p:spPr bwMode="auto">
          <a:xfrm>
            <a:off x="5106759" y="5334000"/>
            <a:ext cx="987880" cy="238887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9" grpId="0" animBg="1"/>
      <p:bldP spid="39" grpId="1" animBg="1"/>
      <p:bldP spid="40" grpId="0" animBg="1"/>
      <p:bldP spid="4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Outline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b="1" dirty="0" smtClean="0"/>
          </a:p>
          <a:p>
            <a:endParaRPr lang="en-US" sz="2400" b="1" dirty="0" smtClean="0"/>
          </a:p>
          <a:p>
            <a:r>
              <a:rPr lang="en-US" sz="2400" b="1" dirty="0" smtClean="0"/>
              <a:t>Preconditioners in computer science</a:t>
            </a:r>
          </a:p>
          <a:p>
            <a:r>
              <a:rPr lang="en-US" sz="2400" b="1" dirty="0" smtClean="0"/>
              <a:t>Combinatorial Subgraph preconditioners</a:t>
            </a:r>
          </a:p>
          <a:p>
            <a:r>
              <a:rPr lang="en-US" sz="2400" b="1" dirty="0" smtClean="0"/>
              <a:t>Combinatorial Steiner preconditioners</a:t>
            </a:r>
          </a:p>
          <a:p>
            <a:r>
              <a:rPr lang="en-US" sz="2400" b="1" dirty="0" smtClean="0"/>
              <a:t>The Combinatorial Multigrid Solver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Graph preconditioning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800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US" sz="2800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US" sz="2800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US" sz="20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US" sz="2000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sz="2000" dirty="0" smtClean="0">
                <a:solidFill>
                  <a:srgbClr val="002060"/>
                </a:solidFill>
              </a:rPr>
              <a:t>The </a:t>
            </a:r>
            <a:r>
              <a:rPr lang="en-US" sz="2000" b="1" dirty="0" smtClean="0">
                <a:solidFill>
                  <a:srgbClr val="002060"/>
                </a:solidFill>
              </a:rPr>
              <a:t>support number</a:t>
            </a:r>
          </a:p>
          <a:p>
            <a:pPr>
              <a:buNone/>
            </a:pPr>
            <a:endParaRPr lang="en-US" sz="2000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US" sz="2000" dirty="0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sz="2000" dirty="0" smtClean="0">
                <a:solidFill>
                  <a:srgbClr val="002060"/>
                </a:solidFill>
              </a:rPr>
              <a:t>The </a:t>
            </a:r>
            <a:r>
              <a:rPr lang="en-US" sz="2000" b="1" dirty="0" smtClean="0">
                <a:solidFill>
                  <a:srgbClr val="002060"/>
                </a:solidFill>
              </a:rPr>
              <a:t>condition number</a:t>
            </a:r>
          </a:p>
          <a:p>
            <a:pPr>
              <a:buNone/>
            </a:pPr>
            <a:endParaRPr lang="en-US" sz="2000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US" sz="2000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US" sz="2000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US" sz="2400" b="1" dirty="0" smtClean="0">
              <a:solidFill>
                <a:srgbClr val="002060"/>
              </a:solidFill>
            </a:endParaRPr>
          </a:p>
          <a:p>
            <a:pPr>
              <a:buNone/>
            </a:pPr>
            <a:endParaRPr lang="en-US" sz="2800" b="1" dirty="0">
              <a:solidFill>
                <a:srgbClr val="002060"/>
              </a:solidFill>
            </a:endParaRPr>
          </a:p>
        </p:txBody>
      </p:sp>
      <p:pic>
        <p:nvPicPr>
          <p:cNvPr id="6" name="Picture 5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2895601" y="4247122"/>
            <a:ext cx="3276600" cy="477278"/>
          </a:xfrm>
          <a:prstGeom prst="rect">
            <a:avLst/>
          </a:prstGeom>
          <a:noFill/>
          <a:ln/>
          <a:effectLst/>
        </p:spPr>
      </p:pic>
      <p:pic>
        <p:nvPicPr>
          <p:cNvPr id="8" name="Picture 7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2514600" y="5452707"/>
            <a:ext cx="4563190" cy="338493"/>
          </a:xfrm>
          <a:prstGeom prst="rect">
            <a:avLst/>
          </a:prstGeom>
          <a:noFill/>
          <a:ln/>
          <a:effectLst/>
        </p:spPr>
      </p:pic>
      <p:sp>
        <p:nvSpPr>
          <p:cNvPr id="9" name="Oval 8"/>
          <p:cNvSpPr/>
          <p:nvPr/>
        </p:nvSpPr>
        <p:spPr>
          <a:xfrm>
            <a:off x="4572000" y="4191000"/>
            <a:ext cx="1752600" cy="685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95400" y="1676400"/>
            <a:ext cx="7467600" cy="461665"/>
          </a:xfrm>
          <a:prstGeom prst="rect">
            <a:avLst/>
          </a:prstGeom>
          <a:noFill/>
          <a:ln w="38100" cmpd="dbl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6"/>
                </a:solidFill>
              </a:rPr>
              <a:t>The preconditioner of a graph A must be a graph B </a:t>
            </a:r>
            <a:endParaRPr lang="en-US" sz="2400" b="1" dirty="0">
              <a:solidFill>
                <a:schemeClr val="accent6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53200" y="22860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[</a:t>
            </a:r>
            <a:r>
              <a:rPr lang="en-US" dirty="0" err="1" smtClean="0"/>
              <a:t>Vaidya</a:t>
            </a:r>
            <a:r>
              <a:rPr lang="en-US" dirty="0" smtClean="0"/>
              <a:t> 93]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371600" y="2826603"/>
            <a:ext cx="7239000" cy="830997"/>
          </a:xfrm>
          <a:prstGeom prst="rect">
            <a:avLst/>
          </a:prstGeom>
          <a:noFill/>
          <a:ln w="38100" cmpd="dbl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accent6"/>
                </a:solidFill>
              </a:rPr>
              <a:t>A GMG-like goal: Graph B must preserve the combinatorial geometry of A</a:t>
            </a:r>
            <a:endParaRPr lang="en-US" sz="2400" b="1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7" grpId="0" animBg="1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2"/>
          <p:cNvGrpSpPr/>
          <p:nvPr/>
        </p:nvGrpSpPr>
        <p:grpSpPr>
          <a:xfrm>
            <a:off x="1447800" y="2321424"/>
            <a:ext cx="2263676" cy="1522630"/>
            <a:chOff x="1447800" y="2321424"/>
            <a:chExt cx="2263676" cy="1522630"/>
          </a:xfrm>
        </p:grpSpPr>
        <p:sp>
          <p:nvSpPr>
            <p:cNvPr id="37" name="Lightning Bolt 36"/>
            <p:cNvSpPr/>
            <p:nvPr/>
          </p:nvSpPr>
          <p:spPr>
            <a:xfrm rot="17674320">
              <a:off x="1399244" y="2682740"/>
              <a:ext cx="595915" cy="352077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Lightning Bolt 37"/>
            <p:cNvSpPr/>
            <p:nvPr/>
          </p:nvSpPr>
          <p:spPr>
            <a:xfrm>
              <a:off x="1447800" y="3276600"/>
              <a:ext cx="595915" cy="352077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Lightning Bolt 40"/>
            <p:cNvSpPr/>
            <p:nvPr/>
          </p:nvSpPr>
          <p:spPr>
            <a:xfrm rot="19497324">
              <a:off x="2637866" y="3491977"/>
              <a:ext cx="595915" cy="352077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Lightning Bolt 41"/>
            <p:cNvSpPr/>
            <p:nvPr/>
          </p:nvSpPr>
          <p:spPr>
            <a:xfrm rot="21352029">
              <a:off x="2606521" y="2840919"/>
              <a:ext cx="578160" cy="457109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Lightning Bolt 42"/>
            <p:cNvSpPr/>
            <p:nvPr/>
          </p:nvSpPr>
          <p:spPr>
            <a:xfrm rot="3094229">
              <a:off x="3193842" y="2883162"/>
              <a:ext cx="578160" cy="457109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Lightning Bolt 43"/>
            <p:cNvSpPr/>
            <p:nvPr/>
          </p:nvSpPr>
          <p:spPr>
            <a:xfrm rot="19345650">
              <a:off x="2511939" y="2321424"/>
              <a:ext cx="578160" cy="476345"/>
            </a:xfrm>
            <a:prstGeom prst="lightningBol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pPr algn="ctr"/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The quadratic form: </a:t>
            </a:r>
          </a:p>
          <a:p>
            <a:endParaRPr lang="en-US" sz="2000" dirty="0" smtClean="0"/>
          </a:p>
          <a:p>
            <a:r>
              <a:rPr lang="en-US" sz="2000" dirty="0" smtClean="0"/>
              <a:t>Measure of similarity of the </a:t>
            </a:r>
            <a:r>
              <a:rPr lang="en-US" sz="2000" b="1" dirty="0" smtClean="0"/>
              <a:t>energy profile </a:t>
            </a:r>
            <a:r>
              <a:rPr lang="en-US" sz="2000" dirty="0" smtClean="0"/>
              <a:t>of the two networks</a:t>
            </a:r>
          </a:p>
          <a:p>
            <a:r>
              <a:rPr lang="en-US" sz="2000" dirty="0" smtClean="0"/>
              <a:t>If                                                then 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</p:txBody>
      </p:sp>
      <p:sp>
        <p:nvSpPr>
          <p:cNvPr id="16399" name="Oval 8"/>
          <p:cNvSpPr>
            <a:spLocks noChangeArrowheads="1"/>
          </p:cNvSpPr>
          <p:nvPr/>
        </p:nvSpPr>
        <p:spPr bwMode="auto">
          <a:xfrm>
            <a:off x="3276600" y="2362200"/>
            <a:ext cx="304800" cy="304800"/>
          </a:xfrm>
          <a:prstGeom prst="ellipse">
            <a:avLst/>
          </a:prstGeom>
          <a:solidFill>
            <a:schemeClr val="bg2">
              <a:alpha val="18823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Graph preconditioning</a:t>
            </a:r>
          </a:p>
        </p:txBody>
      </p: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1250764" y="2514601"/>
            <a:ext cx="2222873" cy="1035238"/>
            <a:chOff x="2164977" y="2819401"/>
            <a:chExt cx="2223247" cy="1035425"/>
          </a:xfrm>
        </p:grpSpPr>
        <p:cxnSp>
          <p:nvCxnSpPr>
            <p:cNvPr id="16416" name="Straight Connector 11"/>
            <p:cNvCxnSpPr>
              <a:cxnSpLocks noChangeShapeType="1"/>
              <a:stCxn id="16396" idx="7"/>
              <a:endCxn id="16397" idx="3"/>
            </p:cNvCxnSpPr>
            <p:nvPr/>
          </p:nvCxnSpPr>
          <p:spPr bwMode="auto">
            <a:xfrm rot="5400000" flipH="1" flipV="1">
              <a:off x="2393612" y="2698547"/>
              <a:ext cx="470359" cy="92763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6417" name="Straight Connector 17"/>
            <p:cNvCxnSpPr>
              <a:cxnSpLocks noChangeShapeType="1"/>
              <a:stCxn id="16397" idx="6"/>
              <a:endCxn id="16399" idx="2"/>
            </p:cNvCxnSpPr>
            <p:nvPr/>
          </p:nvCxnSpPr>
          <p:spPr bwMode="auto">
            <a:xfrm>
              <a:off x="3352813" y="2819401"/>
              <a:ext cx="838341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6418" name="Straight Connector 33"/>
            <p:cNvCxnSpPr>
              <a:cxnSpLocks noChangeShapeType="1"/>
              <a:stCxn id="16397" idx="5"/>
              <a:endCxn id="16400" idx="1"/>
            </p:cNvCxnSpPr>
            <p:nvPr/>
          </p:nvCxnSpPr>
          <p:spPr bwMode="auto">
            <a:xfrm rot="16200000" flipH="1">
              <a:off x="3384375" y="2850977"/>
              <a:ext cx="927642" cy="108005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16396" name="Oval 5"/>
          <p:cNvSpPr>
            <a:spLocks noChangeArrowheads="1"/>
          </p:cNvSpPr>
          <p:nvPr/>
        </p:nvSpPr>
        <p:spPr bwMode="auto">
          <a:xfrm>
            <a:off x="990600" y="3048000"/>
            <a:ext cx="304800" cy="304800"/>
          </a:xfrm>
          <a:prstGeom prst="ellipse">
            <a:avLst/>
          </a:prstGeom>
          <a:solidFill>
            <a:schemeClr val="bg2">
              <a:alpha val="18823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7" name="Oval 6"/>
          <p:cNvSpPr>
            <a:spLocks noChangeArrowheads="1"/>
          </p:cNvSpPr>
          <p:nvPr/>
        </p:nvSpPr>
        <p:spPr bwMode="auto">
          <a:xfrm>
            <a:off x="2133600" y="2362200"/>
            <a:ext cx="304800" cy="304800"/>
          </a:xfrm>
          <a:prstGeom prst="ellipse">
            <a:avLst/>
          </a:prstGeom>
          <a:solidFill>
            <a:schemeClr val="bg2">
              <a:alpha val="18823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8" name="Oval 7"/>
          <p:cNvSpPr>
            <a:spLocks noChangeArrowheads="1"/>
          </p:cNvSpPr>
          <p:nvPr/>
        </p:nvSpPr>
        <p:spPr bwMode="auto">
          <a:xfrm>
            <a:off x="2133600" y="3505200"/>
            <a:ext cx="304800" cy="304800"/>
          </a:xfrm>
          <a:prstGeom prst="ellipse">
            <a:avLst/>
          </a:prstGeom>
          <a:solidFill>
            <a:schemeClr val="bg2">
              <a:alpha val="18823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Oval 9"/>
          <p:cNvSpPr>
            <a:spLocks noChangeArrowheads="1"/>
          </p:cNvSpPr>
          <p:nvPr/>
        </p:nvSpPr>
        <p:spPr bwMode="auto">
          <a:xfrm>
            <a:off x="3429000" y="3505200"/>
            <a:ext cx="304800" cy="304800"/>
          </a:xfrm>
          <a:prstGeom prst="ellipse">
            <a:avLst/>
          </a:prstGeom>
          <a:solidFill>
            <a:schemeClr val="bg2">
              <a:alpha val="18823"/>
            </a:schemeClr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6401" name="Straight Connector 14"/>
          <p:cNvCxnSpPr>
            <a:cxnSpLocks noChangeShapeType="1"/>
            <a:stCxn id="16396" idx="5"/>
            <a:endCxn id="16398" idx="1"/>
          </p:cNvCxnSpPr>
          <p:nvPr/>
        </p:nvCxnSpPr>
        <p:spPr bwMode="auto">
          <a:xfrm rot="16200000" flipH="1">
            <a:off x="1593850" y="2965450"/>
            <a:ext cx="241300" cy="92710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402" name="Straight Connector 22"/>
          <p:cNvCxnSpPr>
            <a:cxnSpLocks noChangeShapeType="1"/>
            <a:stCxn id="16398" idx="6"/>
            <a:endCxn id="16400" idx="2"/>
          </p:cNvCxnSpPr>
          <p:nvPr/>
        </p:nvCxnSpPr>
        <p:spPr bwMode="auto">
          <a:xfrm>
            <a:off x="2438400" y="3657600"/>
            <a:ext cx="990600" cy="15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6403" name="TextBox 27"/>
          <p:cNvSpPr txBox="1">
            <a:spLocks noChangeArrowheads="1"/>
          </p:cNvSpPr>
          <p:nvPr/>
        </p:nvSpPr>
        <p:spPr bwMode="auto">
          <a:xfrm>
            <a:off x="1295400" y="2587625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2</a:t>
            </a:r>
          </a:p>
        </p:txBody>
      </p:sp>
      <p:sp>
        <p:nvSpPr>
          <p:cNvPr id="16404" name="TextBox 28"/>
          <p:cNvSpPr txBox="1">
            <a:spLocks noChangeArrowheads="1"/>
          </p:cNvSpPr>
          <p:nvPr/>
        </p:nvSpPr>
        <p:spPr bwMode="auto">
          <a:xfrm>
            <a:off x="1447800" y="3548063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20</a:t>
            </a:r>
          </a:p>
        </p:txBody>
      </p:sp>
      <p:sp>
        <p:nvSpPr>
          <p:cNvPr id="16405" name="TextBox 29"/>
          <p:cNvSpPr txBox="1">
            <a:spLocks noChangeArrowheads="1"/>
          </p:cNvSpPr>
          <p:nvPr/>
        </p:nvSpPr>
        <p:spPr bwMode="auto">
          <a:xfrm>
            <a:off x="2667000" y="3700463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15</a:t>
            </a:r>
          </a:p>
        </p:txBody>
      </p:sp>
      <p:sp>
        <p:nvSpPr>
          <p:cNvPr id="16406" name="TextBox 30"/>
          <p:cNvSpPr txBox="1">
            <a:spLocks noChangeArrowheads="1"/>
          </p:cNvSpPr>
          <p:nvPr/>
        </p:nvSpPr>
        <p:spPr bwMode="auto">
          <a:xfrm>
            <a:off x="2590800" y="2206625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30</a:t>
            </a:r>
          </a:p>
        </p:txBody>
      </p:sp>
      <p:sp>
        <p:nvSpPr>
          <p:cNvPr id="16407" name="TextBox 31"/>
          <p:cNvSpPr txBox="1">
            <a:spLocks noChangeArrowheads="1"/>
          </p:cNvSpPr>
          <p:nvPr/>
        </p:nvSpPr>
        <p:spPr bwMode="auto">
          <a:xfrm>
            <a:off x="2971800" y="2743200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/>
              <a:t>1</a:t>
            </a:r>
          </a:p>
        </p:txBody>
      </p:sp>
      <p:pic>
        <p:nvPicPr>
          <p:cNvPr id="16409" name="Picture 44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rcRect/>
          <a:stretch>
            <a:fillRect/>
          </a:stretch>
        </p:blipFill>
        <p:spPr bwMode="auto">
          <a:xfrm>
            <a:off x="914400" y="3479800"/>
            <a:ext cx="2286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410" name="Picture 46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rcRect/>
          <a:stretch>
            <a:fillRect/>
          </a:stretch>
        </p:blipFill>
        <p:spPr bwMode="auto">
          <a:xfrm>
            <a:off x="2197100" y="3937000"/>
            <a:ext cx="2540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411" name="Picture 48" descr="TP_tmp.em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rcRect/>
          <a:stretch>
            <a:fillRect/>
          </a:stretch>
        </p:blipFill>
        <p:spPr bwMode="auto">
          <a:xfrm>
            <a:off x="3554413" y="3937000"/>
            <a:ext cx="255587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412" name="Picture 57" descr="TP_tmp.emf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rcRect/>
          <a:stretch>
            <a:fillRect/>
          </a:stretch>
        </p:blipFill>
        <p:spPr bwMode="auto">
          <a:xfrm>
            <a:off x="2057400" y="2057400"/>
            <a:ext cx="255588" cy="17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413" name="Picture 60" descr="TP_tmp.emf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/>
          <a:srcRect/>
          <a:stretch>
            <a:fillRect/>
          </a:stretch>
        </p:blipFill>
        <p:spPr bwMode="auto">
          <a:xfrm>
            <a:off x="3325813" y="2106613"/>
            <a:ext cx="255587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6414" name="Straight Connector 111"/>
          <p:cNvCxnSpPr>
            <a:cxnSpLocks noChangeShapeType="1"/>
            <a:endCxn id="16400" idx="0"/>
          </p:cNvCxnSpPr>
          <p:nvPr/>
        </p:nvCxnSpPr>
        <p:spPr bwMode="auto">
          <a:xfrm rot="16200000" flipH="1">
            <a:off x="3086100" y="3009900"/>
            <a:ext cx="838200" cy="15240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6415" name="TextBox 115"/>
          <p:cNvSpPr txBox="1">
            <a:spLocks noChangeArrowheads="1"/>
          </p:cNvSpPr>
          <p:nvPr/>
        </p:nvSpPr>
        <p:spPr bwMode="auto">
          <a:xfrm>
            <a:off x="3505200" y="2895600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/>
              <a:t>1</a:t>
            </a:r>
          </a:p>
        </p:txBody>
      </p:sp>
      <p:pic>
        <p:nvPicPr>
          <p:cNvPr id="47" name="Picture 46" descr="TP_tmp.bmp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/>
          <a:stretch>
            <a:fillRect/>
          </a:stretch>
        </p:blipFill>
        <p:spPr bwMode="auto">
          <a:xfrm>
            <a:off x="4353141" y="2422525"/>
            <a:ext cx="3790518" cy="1337135"/>
          </a:xfrm>
          <a:prstGeom prst="rect">
            <a:avLst/>
          </a:prstGeom>
          <a:noFill/>
          <a:ln/>
          <a:effectLst/>
        </p:spPr>
      </p:pic>
      <p:pic>
        <p:nvPicPr>
          <p:cNvPr id="46" name="Picture 45" descr="TP_tmp.bmp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/>
          <a:stretch>
            <a:fillRect/>
          </a:stretch>
        </p:blipFill>
        <p:spPr>
          <a:xfrm>
            <a:off x="4495799" y="4543278"/>
            <a:ext cx="3429001" cy="409721"/>
          </a:xfrm>
          <a:prstGeom prst="rect">
            <a:avLst/>
          </a:prstGeom>
        </p:spPr>
      </p:pic>
      <p:sp>
        <p:nvSpPr>
          <p:cNvPr id="49" name="Oval 48"/>
          <p:cNvSpPr/>
          <p:nvPr/>
        </p:nvSpPr>
        <p:spPr>
          <a:xfrm>
            <a:off x="6172200" y="4267200"/>
            <a:ext cx="1828800" cy="838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TP_tmp.bmp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/>
          <a:stretch>
            <a:fillRect/>
          </a:stretch>
        </p:blipFill>
        <p:spPr bwMode="auto">
          <a:xfrm>
            <a:off x="2133601" y="5687568"/>
            <a:ext cx="3048000" cy="304799"/>
          </a:xfrm>
          <a:prstGeom prst="rect">
            <a:avLst/>
          </a:prstGeom>
          <a:noFill/>
          <a:ln/>
          <a:effectLst/>
        </p:spPr>
      </p:pic>
      <p:pic>
        <p:nvPicPr>
          <p:cNvPr id="50" name="Picture 49" descr="TP_tmp.bmp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/>
          <a:stretch>
            <a:fillRect/>
          </a:stretch>
        </p:blipFill>
        <p:spPr bwMode="auto">
          <a:xfrm>
            <a:off x="5932635" y="5715000"/>
            <a:ext cx="2460328" cy="245630"/>
          </a:xfrm>
          <a:prstGeom prst="rect">
            <a:avLst/>
          </a:prstGeom>
          <a:noFill/>
          <a:ln/>
          <a:effectLst/>
        </p:spPr>
      </p:pic>
      <p:sp>
        <p:nvSpPr>
          <p:cNvPr id="51" name="Oval 50"/>
          <p:cNvSpPr/>
          <p:nvPr/>
        </p:nvSpPr>
        <p:spPr>
          <a:xfrm>
            <a:off x="5867400" y="5638800"/>
            <a:ext cx="26670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3962400" y="1447800"/>
            <a:ext cx="4724400" cy="46166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38100">
            <a:solidFill>
              <a:schemeClr val="accent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Splitting Lemma, Locality of Support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53" name="Straight Connector 14"/>
          <p:cNvCxnSpPr>
            <a:cxnSpLocks noChangeShapeType="1"/>
            <a:endCxn id="52" idx="3"/>
          </p:cNvCxnSpPr>
          <p:nvPr/>
        </p:nvCxnSpPr>
        <p:spPr bwMode="auto">
          <a:xfrm rot="5400000" flipH="1" flipV="1">
            <a:off x="6516217" y="3696817"/>
            <a:ext cx="4188767" cy="152400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 type="triangle" w="lg" len="lg"/>
            <a:tailEnd type="none" w="lg" len="lg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1" grpId="0" animBg="1"/>
      <p:bldP spid="5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Outline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Preconditioners in Computer Science</a:t>
            </a:r>
          </a:p>
          <a:p>
            <a:r>
              <a:rPr lang="en-US" sz="2400" b="1" dirty="0" smtClean="0"/>
              <a:t>Combinatorial Subgraph preconditioners</a:t>
            </a:r>
          </a:p>
          <a:p>
            <a:r>
              <a:rPr lang="en-US" sz="2400" b="1" dirty="0" smtClean="0"/>
              <a:t>Combinatorial Steiner preconditioners</a:t>
            </a:r>
          </a:p>
          <a:p>
            <a:r>
              <a:rPr lang="en-US" sz="2400" b="1" dirty="0" smtClean="0"/>
              <a:t>The Combinatorial Multigrid Solver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Solving linear systems on Laplacians</a:t>
            </a:r>
            <a:br>
              <a:rPr lang="en-US" sz="3200" dirty="0" smtClean="0"/>
            </a:br>
            <a:r>
              <a:rPr lang="en-US" sz="3200" dirty="0" smtClean="0"/>
              <a:t>Subgraph Preconditioners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Find an easily invertible preconditioner for a Laplacian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Approximate a given graph with a simpler graph</a:t>
            </a:r>
          </a:p>
          <a:p>
            <a:r>
              <a:rPr lang="en-US" sz="2400" dirty="0" smtClean="0"/>
              <a:t>B = Maximum Spanning Tree + a few edges</a:t>
            </a:r>
          </a:p>
          <a:p>
            <a:r>
              <a:rPr lang="en-US" sz="2400" dirty="0" smtClean="0"/>
              <a:t>Solve B with partial elimination and recursion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2667000" y="1981200"/>
            <a:ext cx="3048000" cy="369332"/>
          </a:xfrm>
          <a:prstGeom prst="rect">
            <a:avLst/>
          </a:prstGeom>
          <a:noFill/>
          <a:ln w="38100" cmpd="dbl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accent6"/>
                </a:solidFill>
              </a:rPr>
              <a:t>Maximum Spanning Tree</a:t>
            </a:r>
            <a:endParaRPr lang="en-US" b="1" dirty="0">
              <a:solidFill>
                <a:schemeClr val="accent6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24600" y="19812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[</a:t>
            </a:r>
            <a:r>
              <a:rPr lang="en-US" dirty="0" err="1" smtClean="0"/>
              <a:t>Vaidya</a:t>
            </a:r>
            <a:r>
              <a:rPr lang="en-US" dirty="0" smtClean="0"/>
              <a:t> 93]</a:t>
            </a:r>
            <a:endParaRPr lang="en-US" dirty="0"/>
          </a:p>
        </p:txBody>
      </p:sp>
      <p:pic>
        <p:nvPicPr>
          <p:cNvPr id="39" name="Picture 57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rcRect/>
          <a:stretch>
            <a:fillRect/>
          </a:stretch>
        </p:blipFill>
        <p:spPr bwMode="auto">
          <a:xfrm>
            <a:off x="3733800" y="2514600"/>
            <a:ext cx="255588" cy="17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3" name="Group 42"/>
          <p:cNvGrpSpPr/>
          <p:nvPr/>
        </p:nvGrpSpPr>
        <p:grpSpPr>
          <a:xfrm>
            <a:off x="2590800" y="2487613"/>
            <a:ext cx="3048000" cy="2008187"/>
            <a:chOff x="2590800" y="2487613"/>
            <a:chExt cx="3048000" cy="2008187"/>
          </a:xfrm>
        </p:grpSpPr>
        <p:sp>
          <p:nvSpPr>
            <p:cNvPr id="20" name="Oval 8"/>
            <p:cNvSpPr>
              <a:spLocks noChangeArrowheads="1"/>
            </p:cNvSpPr>
            <p:nvPr/>
          </p:nvSpPr>
          <p:spPr bwMode="auto">
            <a:xfrm>
              <a:off x="4953000" y="2743200"/>
              <a:ext cx="304800" cy="304800"/>
            </a:xfrm>
            <a:prstGeom prst="ellipse">
              <a:avLst/>
            </a:prstGeom>
            <a:solidFill>
              <a:schemeClr val="bg2">
                <a:alpha val="18823"/>
              </a:schemeClr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" name="Group 44"/>
            <p:cNvGrpSpPr>
              <a:grpSpLocks/>
            </p:cNvGrpSpPr>
            <p:nvPr/>
          </p:nvGrpSpPr>
          <p:grpSpPr bwMode="auto">
            <a:xfrm>
              <a:off x="2927164" y="2895601"/>
              <a:ext cx="2222873" cy="1035238"/>
              <a:chOff x="2164977" y="2819401"/>
              <a:chExt cx="2223247" cy="1035425"/>
            </a:xfrm>
          </p:grpSpPr>
          <p:cxnSp>
            <p:nvCxnSpPr>
              <p:cNvPr id="22" name="Straight Connector 11"/>
              <p:cNvCxnSpPr>
                <a:cxnSpLocks noChangeShapeType="1"/>
                <a:stCxn id="25" idx="7"/>
                <a:endCxn id="26" idx="3"/>
              </p:cNvCxnSpPr>
              <p:nvPr/>
            </p:nvCxnSpPr>
            <p:spPr bwMode="auto">
              <a:xfrm rot="5400000" flipH="1" flipV="1">
                <a:off x="2393612" y="2698548"/>
                <a:ext cx="470359" cy="927630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3" name="Straight Connector 17"/>
              <p:cNvCxnSpPr>
                <a:cxnSpLocks noChangeShapeType="1"/>
                <a:stCxn id="26" idx="6"/>
                <a:endCxn id="20" idx="2"/>
              </p:cNvCxnSpPr>
              <p:nvPr/>
            </p:nvCxnSpPr>
            <p:spPr bwMode="auto">
              <a:xfrm>
                <a:off x="3352813" y="2819401"/>
                <a:ext cx="838341" cy="1588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4" name="Straight Connector 33"/>
              <p:cNvCxnSpPr>
                <a:cxnSpLocks noChangeShapeType="1"/>
                <a:stCxn id="26" idx="5"/>
                <a:endCxn id="28" idx="1"/>
              </p:cNvCxnSpPr>
              <p:nvPr/>
            </p:nvCxnSpPr>
            <p:spPr bwMode="auto">
              <a:xfrm rot="16200000" flipH="1">
                <a:off x="3384375" y="2850977"/>
                <a:ext cx="927642" cy="1080056"/>
              </a:xfrm>
              <a:prstGeom prst="line">
                <a:avLst/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25" name="Oval 5"/>
            <p:cNvSpPr>
              <a:spLocks noChangeArrowheads="1"/>
            </p:cNvSpPr>
            <p:nvPr/>
          </p:nvSpPr>
          <p:spPr bwMode="auto">
            <a:xfrm>
              <a:off x="2667000" y="3429000"/>
              <a:ext cx="304800" cy="304800"/>
            </a:xfrm>
            <a:prstGeom prst="ellipse">
              <a:avLst/>
            </a:prstGeom>
            <a:solidFill>
              <a:schemeClr val="bg2">
                <a:alpha val="18823"/>
              </a:schemeClr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Oval 6"/>
            <p:cNvSpPr>
              <a:spLocks noChangeArrowheads="1"/>
            </p:cNvSpPr>
            <p:nvPr/>
          </p:nvSpPr>
          <p:spPr bwMode="auto">
            <a:xfrm>
              <a:off x="3810000" y="2743200"/>
              <a:ext cx="304800" cy="304800"/>
            </a:xfrm>
            <a:prstGeom prst="ellipse">
              <a:avLst/>
            </a:prstGeom>
            <a:solidFill>
              <a:schemeClr val="bg2">
                <a:alpha val="18823"/>
              </a:schemeClr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7"/>
            <p:cNvSpPr>
              <a:spLocks noChangeArrowheads="1"/>
            </p:cNvSpPr>
            <p:nvPr/>
          </p:nvSpPr>
          <p:spPr bwMode="auto">
            <a:xfrm>
              <a:off x="3810000" y="3886200"/>
              <a:ext cx="304800" cy="304800"/>
            </a:xfrm>
            <a:prstGeom prst="ellipse">
              <a:avLst/>
            </a:prstGeom>
            <a:solidFill>
              <a:schemeClr val="bg2">
                <a:alpha val="18823"/>
              </a:schemeClr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9"/>
            <p:cNvSpPr>
              <a:spLocks noChangeArrowheads="1"/>
            </p:cNvSpPr>
            <p:nvPr/>
          </p:nvSpPr>
          <p:spPr bwMode="auto">
            <a:xfrm>
              <a:off x="5105400" y="3886200"/>
              <a:ext cx="304800" cy="304800"/>
            </a:xfrm>
            <a:prstGeom prst="ellipse">
              <a:avLst/>
            </a:prstGeom>
            <a:solidFill>
              <a:schemeClr val="bg2">
                <a:alpha val="18823"/>
              </a:schemeClr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9" name="Straight Connector 14"/>
            <p:cNvCxnSpPr>
              <a:cxnSpLocks noChangeShapeType="1"/>
              <a:stCxn id="25" idx="5"/>
              <a:endCxn id="27" idx="1"/>
            </p:cNvCxnSpPr>
            <p:nvPr/>
          </p:nvCxnSpPr>
          <p:spPr bwMode="auto">
            <a:xfrm rot="16200000" flipH="1">
              <a:off x="3270250" y="3346450"/>
              <a:ext cx="241300" cy="9271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30" name="Straight Connector 22"/>
            <p:cNvCxnSpPr>
              <a:cxnSpLocks noChangeShapeType="1"/>
              <a:stCxn id="27" idx="6"/>
              <a:endCxn id="28" idx="2"/>
            </p:cNvCxnSpPr>
            <p:nvPr/>
          </p:nvCxnSpPr>
          <p:spPr bwMode="auto">
            <a:xfrm>
              <a:off x="4114800" y="4038600"/>
              <a:ext cx="990600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31" name="TextBox 27"/>
            <p:cNvSpPr txBox="1">
              <a:spLocks noChangeArrowheads="1"/>
            </p:cNvSpPr>
            <p:nvPr/>
          </p:nvSpPr>
          <p:spPr bwMode="auto">
            <a:xfrm>
              <a:off x="2971800" y="2968625"/>
              <a:ext cx="4572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2</a:t>
              </a:r>
            </a:p>
          </p:txBody>
        </p:sp>
        <p:sp>
          <p:nvSpPr>
            <p:cNvPr id="32" name="TextBox 28"/>
            <p:cNvSpPr txBox="1">
              <a:spLocks noChangeArrowheads="1"/>
            </p:cNvSpPr>
            <p:nvPr/>
          </p:nvSpPr>
          <p:spPr bwMode="auto">
            <a:xfrm>
              <a:off x="3124200" y="3929063"/>
              <a:ext cx="4572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20</a:t>
              </a:r>
            </a:p>
          </p:txBody>
        </p:sp>
        <p:sp>
          <p:nvSpPr>
            <p:cNvPr id="33" name="TextBox 29"/>
            <p:cNvSpPr txBox="1">
              <a:spLocks noChangeArrowheads="1"/>
            </p:cNvSpPr>
            <p:nvPr/>
          </p:nvSpPr>
          <p:spPr bwMode="auto">
            <a:xfrm>
              <a:off x="4343400" y="4081463"/>
              <a:ext cx="4572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dirty="0"/>
                <a:t>15</a:t>
              </a:r>
            </a:p>
          </p:txBody>
        </p:sp>
        <p:sp>
          <p:nvSpPr>
            <p:cNvPr id="34" name="TextBox 30"/>
            <p:cNvSpPr txBox="1">
              <a:spLocks noChangeArrowheads="1"/>
            </p:cNvSpPr>
            <p:nvPr/>
          </p:nvSpPr>
          <p:spPr bwMode="auto">
            <a:xfrm>
              <a:off x="4267200" y="2587625"/>
              <a:ext cx="4572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/>
                <a:t>30</a:t>
              </a:r>
            </a:p>
          </p:txBody>
        </p:sp>
        <p:sp>
          <p:nvSpPr>
            <p:cNvPr id="35" name="TextBox 31"/>
            <p:cNvSpPr txBox="1">
              <a:spLocks noChangeArrowheads="1"/>
            </p:cNvSpPr>
            <p:nvPr/>
          </p:nvSpPr>
          <p:spPr bwMode="auto">
            <a:xfrm>
              <a:off x="4648200" y="3124200"/>
              <a:ext cx="4572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dirty="0"/>
                <a:t>1</a:t>
              </a:r>
            </a:p>
          </p:txBody>
        </p:sp>
        <p:pic>
          <p:nvPicPr>
            <p:cNvPr id="36" name="Picture 44" descr="TP_tmp.emf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2590800" y="3860800"/>
              <a:ext cx="228600" cy="17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7" name="Picture 46" descr="TP_tmp.emf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3873500" y="4318000"/>
              <a:ext cx="254000" cy="17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8" name="Picture 48" descr="TP_tmp.emf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5230813" y="4318000"/>
              <a:ext cx="255587" cy="177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0" name="Picture 60" descr="TP_tmp.emf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5002213" y="2487613"/>
              <a:ext cx="255587" cy="179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41" name="Straight Connector 111"/>
            <p:cNvCxnSpPr>
              <a:cxnSpLocks noChangeShapeType="1"/>
              <a:endCxn id="28" idx="0"/>
            </p:cNvCxnSpPr>
            <p:nvPr/>
          </p:nvCxnSpPr>
          <p:spPr bwMode="auto">
            <a:xfrm rot="16200000" flipH="1">
              <a:off x="4762500" y="3390900"/>
              <a:ext cx="838200" cy="1524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42" name="TextBox 115"/>
            <p:cNvSpPr txBox="1">
              <a:spLocks noChangeArrowheads="1"/>
            </p:cNvSpPr>
            <p:nvPr/>
          </p:nvSpPr>
          <p:spPr bwMode="auto">
            <a:xfrm>
              <a:off x="5181600" y="3276600"/>
              <a:ext cx="4572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400" dirty="0"/>
                <a:t>1</a:t>
              </a:r>
            </a:p>
          </p:txBody>
        </p:sp>
      </p:grpSp>
      <p:cxnSp>
        <p:nvCxnSpPr>
          <p:cNvPr id="44" name="Straight Connector 14"/>
          <p:cNvCxnSpPr>
            <a:cxnSpLocks noChangeShapeType="1"/>
            <a:stCxn id="25" idx="5"/>
          </p:cNvCxnSpPr>
          <p:nvPr/>
        </p:nvCxnSpPr>
        <p:spPr bwMode="auto">
          <a:xfrm rot="16200000" flipH="1">
            <a:off x="3270063" y="3346262"/>
            <a:ext cx="273237" cy="959037"/>
          </a:xfrm>
          <a:prstGeom prst="line">
            <a:avLst/>
          </a:prstGeom>
          <a:noFill/>
          <a:ln w="38100" algn="ctr">
            <a:solidFill>
              <a:schemeClr val="accent6"/>
            </a:solidFill>
            <a:round/>
            <a:headEnd type="triangle" w="lg" len="lg"/>
            <a:tailEnd type="triangle" w="lg" len="lg"/>
          </a:ln>
        </p:spPr>
      </p:cxnSp>
      <p:cxnSp>
        <p:nvCxnSpPr>
          <p:cNvPr id="45" name="Straight Connector 14"/>
          <p:cNvCxnSpPr>
            <a:cxnSpLocks noChangeShapeType="1"/>
            <a:stCxn id="27" idx="6"/>
            <a:endCxn id="28" idx="2"/>
          </p:cNvCxnSpPr>
          <p:nvPr/>
        </p:nvCxnSpPr>
        <p:spPr bwMode="auto">
          <a:xfrm>
            <a:off x="4114800" y="4038600"/>
            <a:ext cx="990600" cy="1588"/>
          </a:xfrm>
          <a:prstGeom prst="line">
            <a:avLst/>
          </a:prstGeom>
          <a:noFill/>
          <a:ln w="38100" algn="ctr">
            <a:solidFill>
              <a:schemeClr val="accent6"/>
            </a:solidFill>
            <a:round/>
            <a:headEnd type="triangle" w="lg" len="lg"/>
            <a:tailEnd type="none" w="lg" len="lg"/>
          </a:ln>
        </p:spPr>
      </p:cxnSp>
      <p:cxnSp>
        <p:nvCxnSpPr>
          <p:cNvPr id="48" name="Straight Connector 14"/>
          <p:cNvCxnSpPr>
            <a:cxnSpLocks noChangeShapeType="1"/>
            <a:endCxn id="20" idx="2"/>
          </p:cNvCxnSpPr>
          <p:nvPr/>
        </p:nvCxnSpPr>
        <p:spPr bwMode="auto">
          <a:xfrm>
            <a:off x="4102100" y="2895600"/>
            <a:ext cx="850900" cy="1588"/>
          </a:xfrm>
          <a:prstGeom prst="line">
            <a:avLst/>
          </a:prstGeom>
          <a:noFill/>
          <a:ln w="38100" algn="ctr">
            <a:solidFill>
              <a:schemeClr val="accent6"/>
            </a:solidFill>
            <a:round/>
            <a:headEnd type="triangle" w="lg" len="lg"/>
            <a:tailEnd type="triangle" w="lg" len="lg"/>
          </a:ln>
        </p:spPr>
      </p:cxnSp>
      <p:cxnSp>
        <p:nvCxnSpPr>
          <p:cNvPr id="51" name="Straight Connector 14"/>
          <p:cNvCxnSpPr>
            <a:cxnSpLocks noChangeShapeType="1"/>
            <a:stCxn id="25" idx="7"/>
            <a:endCxn id="26" idx="3"/>
          </p:cNvCxnSpPr>
          <p:nvPr/>
        </p:nvCxnSpPr>
        <p:spPr bwMode="auto">
          <a:xfrm rot="5400000" flipH="1" flipV="1">
            <a:off x="3155763" y="2774763"/>
            <a:ext cx="470274" cy="927474"/>
          </a:xfrm>
          <a:prstGeom prst="line">
            <a:avLst/>
          </a:prstGeom>
          <a:noFill/>
          <a:ln w="38100" algn="ctr">
            <a:solidFill>
              <a:schemeClr val="accent6"/>
            </a:solidFill>
            <a:round/>
            <a:headEnd type="none" w="lg" len="lg"/>
            <a:tailEnd type="none" w="lg" len="lg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Replace MST with Low Stretch Trees </a:t>
            </a:r>
            <a:r>
              <a:rPr lang="en-US" sz="1900" dirty="0" smtClean="0"/>
              <a:t>[EEST05]</a:t>
            </a:r>
          </a:p>
          <a:p>
            <a:pPr lvl="1"/>
            <a:r>
              <a:rPr lang="en-US" sz="2000" dirty="0" smtClean="0"/>
              <a:t>Quite more complicated than MST</a:t>
            </a:r>
          </a:p>
          <a:p>
            <a:r>
              <a:rPr lang="en-US" sz="2400" dirty="0" smtClean="0"/>
              <a:t>Better ways to add edges to the tree</a:t>
            </a:r>
          </a:p>
          <a:p>
            <a:r>
              <a:rPr lang="en-US" sz="2400" dirty="0" err="1" smtClean="0"/>
              <a:t>Sparsification</a:t>
            </a:r>
            <a:r>
              <a:rPr lang="en-US" sz="2400" dirty="0" smtClean="0"/>
              <a:t> of dense graphs </a:t>
            </a:r>
            <a:r>
              <a:rPr lang="en-US" sz="1900" dirty="0" smtClean="0"/>
              <a:t>[ST04]</a:t>
            </a:r>
          </a:p>
          <a:p>
            <a:endParaRPr lang="en-US" sz="1900" dirty="0" smtClean="0"/>
          </a:p>
          <a:p>
            <a:endParaRPr lang="en-US" sz="1900" dirty="0" smtClean="0"/>
          </a:p>
          <a:p>
            <a:endParaRPr lang="en-US" sz="1900" dirty="0" smtClean="0"/>
          </a:p>
          <a:p>
            <a:endParaRPr lang="en-US" sz="1900" dirty="0" smtClean="0"/>
          </a:p>
          <a:p>
            <a:r>
              <a:rPr lang="en-US" sz="2400" dirty="0" smtClean="0"/>
              <a:t>Use planar multi-way separators </a:t>
            </a:r>
            <a:r>
              <a:rPr lang="en-US" sz="1800" dirty="0" smtClean="0"/>
              <a:t>[KM07]</a:t>
            </a:r>
          </a:p>
          <a:p>
            <a:pPr lvl="1"/>
            <a:r>
              <a:rPr lang="en-US" sz="2000" dirty="0" smtClean="0"/>
              <a:t>Also parallel</a:t>
            </a:r>
          </a:p>
          <a:p>
            <a:endParaRPr lang="en-US" sz="1900" dirty="0" smtClean="0"/>
          </a:p>
          <a:p>
            <a:endParaRPr lang="en-US" sz="2400" dirty="0" smtClean="0"/>
          </a:p>
          <a:p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Solving linear systems on Laplacians</a:t>
            </a:r>
            <a:br>
              <a:rPr lang="en-US" sz="3200" dirty="0" smtClean="0"/>
            </a:br>
            <a:r>
              <a:rPr lang="en-US" sz="3200" dirty="0" smtClean="0"/>
              <a:t>Subgraph Preconditioners</a:t>
            </a:r>
            <a:endParaRPr lang="en-US" sz="3200" dirty="0"/>
          </a:p>
        </p:txBody>
      </p:sp>
      <p:sp>
        <p:nvSpPr>
          <p:cNvPr id="47" name="TextBox 46"/>
          <p:cNvSpPr txBox="1"/>
          <p:nvPr/>
        </p:nvSpPr>
        <p:spPr>
          <a:xfrm>
            <a:off x="2438400" y="3505200"/>
            <a:ext cx="2895600" cy="400110"/>
          </a:xfrm>
          <a:prstGeom prst="rect">
            <a:avLst/>
          </a:prstGeom>
          <a:noFill/>
          <a:ln w="76200" cmpd="dbl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Laplacians in</a:t>
            </a:r>
            <a:endParaRPr lang="en-US" sz="2000" dirty="0"/>
          </a:p>
        </p:txBody>
      </p:sp>
      <p:pic>
        <p:nvPicPr>
          <p:cNvPr id="10" name="Picture 9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3902864" y="3611879"/>
            <a:ext cx="1202536" cy="249223"/>
          </a:xfrm>
          <a:prstGeom prst="rect">
            <a:avLst/>
          </a:prstGeom>
          <a:noFill/>
          <a:ln/>
          <a:effectLst/>
        </p:spPr>
      </p:pic>
      <p:sp>
        <p:nvSpPr>
          <p:cNvPr id="53" name="TextBox 52"/>
          <p:cNvSpPr txBox="1"/>
          <p:nvPr/>
        </p:nvSpPr>
        <p:spPr>
          <a:xfrm>
            <a:off x="2438400" y="5543490"/>
            <a:ext cx="2819400" cy="400110"/>
          </a:xfrm>
          <a:prstGeom prst="rect">
            <a:avLst/>
          </a:prstGeom>
          <a:noFill/>
          <a:ln w="76200" cmpd="dbl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Planar Laplacians in</a:t>
            </a:r>
            <a:endParaRPr lang="en-US" sz="2000" dirty="0"/>
          </a:p>
        </p:txBody>
      </p:sp>
      <p:pic>
        <p:nvPicPr>
          <p:cNvPr id="58" name="Picture 57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4572001" y="5628351"/>
            <a:ext cx="457200" cy="239049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7" grpId="0" animBg="1"/>
      <p:bldP spid="5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Outline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Preconditioners in Computer Science</a:t>
            </a:r>
          </a:p>
          <a:p>
            <a:r>
              <a:rPr lang="en-US" sz="2400" dirty="0" smtClean="0"/>
              <a:t>Combinatorial Subgraph preconditioners</a:t>
            </a:r>
          </a:p>
          <a:p>
            <a:r>
              <a:rPr lang="en-US" sz="2400" b="1" dirty="0" smtClean="0"/>
              <a:t>Combinatorial Steiner preconditioners</a:t>
            </a:r>
          </a:p>
          <a:p>
            <a:r>
              <a:rPr lang="en-US" sz="2400" b="1" dirty="0" smtClean="0"/>
              <a:t>The Combinatorial Multigrid Solver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Steiner Preconditioners</a:t>
            </a:r>
            <a:endParaRPr lang="en-US" sz="3200" dirty="0"/>
          </a:p>
        </p:txBody>
      </p:sp>
      <p:sp>
        <p:nvSpPr>
          <p:cNvPr id="12062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US" altLang="zh-TW" sz="2600" b="1" dirty="0">
                <a:ea typeface="新細明體" pitchFamily="18" charset="-120"/>
              </a:rPr>
              <a:t>Spanning tree</a:t>
            </a:r>
          </a:p>
          <a:p>
            <a:endParaRPr lang="en-US" altLang="zh-TW" b="1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r>
              <a:rPr lang="en-US" altLang="zh-TW" sz="2000" dirty="0">
                <a:ea typeface="新細明體" pitchFamily="18" charset="-120"/>
              </a:rPr>
              <a:t>Laplacians have </a:t>
            </a:r>
            <a:r>
              <a:rPr lang="en-US" altLang="zh-TW" sz="2000" u="sng" dirty="0">
                <a:ea typeface="新細明體" pitchFamily="18" charset="-120"/>
              </a:rPr>
              <a:t>same</a:t>
            </a:r>
            <a:r>
              <a:rPr lang="en-US" altLang="zh-TW" sz="2000" dirty="0">
                <a:ea typeface="新細明體" pitchFamily="18" charset="-120"/>
              </a:rPr>
              <a:t> sizes</a:t>
            </a:r>
            <a:endParaRPr lang="en-US" sz="2000" dirty="0"/>
          </a:p>
        </p:txBody>
      </p:sp>
      <p:sp>
        <p:nvSpPr>
          <p:cNvPr id="1206276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TW" b="1" dirty="0">
                <a:ea typeface="新細明體" pitchFamily="18" charset="-120"/>
              </a:rPr>
              <a:t>Steiner </a:t>
            </a:r>
            <a:r>
              <a:rPr lang="en-US" altLang="zh-TW" b="1" dirty="0" smtClean="0">
                <a:ea typeface="新細明體" pitchFamily="18" charset="-120"/>
              </a:rPr>
              <a:t>Tree </a:t>
            </a:r>
            <a:r>
              <a:rPr lang="en-US" altLang="zh-TW" sz="1800" dirty="0" smtClean="0">
                <a:ea typeface="新細明體" pitchFamily="18" charset="-120"/>
              </a:rPr>
              <a:t>[GrM97]</a:t>
            </a:r>
            <a:endParaRPr lang="en-US" altLang="zh-TW" sz="1800" dirty="0">
              <a:ea typeface="新細明體" pitchFamily="18" charset="-120"/>
            </a:endParaRPr>
          </a:p>
          <a:p>
            <a:endParaRPr lang="en-US" altLang="zh-TW" b="1" dirty="0">
              <a:ea typeface="新細明體" pitchFamily="18" charset="-120"/>
            </a:endParaRPr>
          </a:p>
          <a:p>
            <a:endParaRPr lang="en-US" altLang="zh-TW" b="1" dirty="0">
              <a:ea typeface="新細明體" pitchFamily="18" charset="-120"/>
            </a:endParaRPr>
          </a:p>
          <a:p>
            <a:endParaRPr lang="en-US" altLang="zh-TW" b="1" dirty="0">
              <a:ea typeface="新細明體" pitchFamily="18" charset="-120"/>
            </a:endParaRPr>
          </a:p>
          <a:p>
            <a:endParaRPr lang="en-US" altLang="zh-TW" b="1" dirty="0">
              <a:ea typeface="新細明體" pitchFamily="18" charset="-120"/>
            </a:endParaRPr>
          </a:p>
          <a:p>
            <a:endParaRPr lang="en-US" altLang="zh-TW" b="1" dirty="0">
              <a:ea typeface="新細明體" pitchFamily="18" charset="-120"/>
            </a:endParaRPr>
          </a:p>
          <a:p>
            <a:endParaRPr lang="en-US" altLang="zh-TW" b="1" dirty="0">
              <a:ea typeface="新細明體" pitchFamily="18" charset="-120"/>
            </a:endParaRPr>
          </a:p>
          <a:p>
            <a:r>
              <a:rPr lang="en-US" altLang="zh-TW" sz="2000" dirty="0">
                <a:ea typeface="新細明體" pitchFamily="18" charset="-120"/>
              </a:rPr>
              <a:t>Laplacians have </a:t>
            </a:r>
            <a:r>
              <a:rPr lang="en-US" altLang="zh-TW" sz="2000" u="sng" dirty="0">
                <a:ea typeface="新細明體" pitchFamily="18" charset="-120"/>
              </a:rPr>
              <a:t>different</a:t>
            </a:r>
            <a:r>
              <a:rPr lang="en-US" altLang="zh-TW" sz="2000" dirty="0">
                <a:ea typeface="新細明體" pitchFamily="18" charset="-120"/>
              </a:rPr>
              <a:t> </a:t>
            </a:r>
            <a:r>
              <a:rPr lang="en-US" altLang="zh-TW" sz="2000" dirty="0" smtClean="0">
                <a:ea typeface="新細明體" pitchFamily="18" charset="-120"/>
              </a:rPr>
              <a:t>sizes</a:t>
            </a:r>
            <a:endParaRPr lang="en-US" altLang="zh-TW" sz="2000" dirty="0">
              <a:ea typeface="新細明體" pitchFamily="18" charset="-120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914400" y="2209800"/>
            <a:ext cx="3429000" cy="2362200"/>
            <a:chOff x="576" y="1392"/>
            <a:chExt cx="2160" cy="1488"/>
          </a:xfrm>
        </p:grpSpPr>
        <p:sp>
          <p:nvSpPr>
            <p:cNvPr id="1206278" name="Oval 6"/>
            <p:cNvSpPr>
              <a:spLocks noChangeArrowheads="1"/>
            </p:cNvSpPr>
            <p:nvPr/>
          </p:nvSpPr>
          <p:spPr bwMode="auto">
            <a:xfrm>
              <a:off x="576" y="1680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 dirty="0"/>
                <a:t>a</a:t>
              </a:r>
            </a:p>
          </p:txBody>
        </p:sp>
        <p:sp>
          <p:nvSpPr>
            <p:cNvPr id="1206279" name="Oval 7"/>
            <p:cNvSpPr>
              <a:spLocks noChangeArrowheads="1"/>
            </p:cNvSpPr>
            <p:nvPr/>
          </p:nvSpPr>
          <p:spPr bwMode="auto">
            <a:xfrm>
              <a:off x="1248" y="1440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 dirty="0"/>
                <a:t>b</a:t>
              </a:r>
            </a:p>
          </p:txBody>
        </p:sp>
        <p:sp>
          <p:nvSpPr>
            <p:cNvPr id="1206280" name="Oval 8"/>
            <p:cNvSpPr>
              <a:spLocks noChangeArrowheads="1"/>
            </p:cNvSpPr>
            <p:nvPr/>
          </p:nvSpPr>
          <p:spPr bwMode="auto">
            <a:xfrm>
              <a:off x="720" y="230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 dirty="0"/>
                <a:t>c</a:t>
              </a:r>
            </a:p>
          </p:txBody>
        </p:sp>
        <p:sp>
          <p:nvSpPr>
            <p:cNvPr id="1206281" name="Oval 9"/>
            <p:cNvSpPr>
              <a:spLocks noChangeArrowheads="1"/>
            </p:cNvSpPr>
            <p:nvPr/>
          </p:nvSpPr>
          <p:spPr bwMode="auto">
            <a:xfrm>
              <a:off x="1200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 dirty="0"/>
                <a:t>d</a:t>
              </a:r>
            </a:p>
          </p:txBody>
        </p:sp>
        <p:sp>
          <p:nvSpPr>
            <p:cNvPr id="1206282" name="Oval 10"/>
            <p:cNvSpPr>
              <a:spLocks noChangeArrowheads="1"/>
            </p:cNvSpPr>
            <p:nvPr/>
          </p:nvSpPr>
          <p:spPr bwMode="auto">
            <a:xfrm>
              <a:off x="1152" y="2640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 dirty="0"/>
                <a:t>e</a:t>
              </a:r>
            </a:p>
          </p:txBody>
        </p:sp>
        <p:sp>
          <p:nvSpPr>
            <p:cNvPr id="1206283" name="Oval 11"/>
            <p:cNvSpPr>
              <a:spLocks noChangeArrowheads="1"/>
            </p:cNvSpPr>
            <p:nvPr/>
          </p:nvSpPr>
          <p:spPr bwMode="auto">
            <a:xfrm>
              <a:off x="1776" y="2688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 dirty="0"/>
                <a:t>f</a:t>
              </a:r>
            </a:p>
          </p:txBody>
        </p:sp>
        <p:sp>
          <p:nvSpPr>
            <p:cNvPr id="1206284" name="Oval 12"/>
            <p:cNvSpPr>
              <a:spLocks noChangeArrowheads="1"/>
            </p:cNvSpPr>
            <p:nvPr/>
          </p:nvSpPr>
          <p:spPr bwMode="auto">
            <a:xfrm>
              <a:off x="2304" y="254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 dirty="0"/>
                <a:t>g</a:t>
              </a:r>
            </a:p>
          </p:txBody>
        </p:sp>
        <p:sp>
          <p:nvSpPr>
            <p:cNvPr id="1206285" name="Oval 13"/>
            <p:cNvSpPr>
              <a:spLocks noChangeArrowheads="1"/>
            </p:cNvSpPr>
            <p:nvPr/>
          </p:nvSpPr>
          <p:spPr bwMode="auto">
            <a:xfrm>
              <a:off x="1968" y="206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 dirty="0"/>
                <a:t>h</a:t>
              </a:r>
            </a:p>
          </p:txBody>
        </p:sp>
        <p:sp>
          <p:nvSpPr>
            <p:cNvPr id="1206286" name="Oval 14"/>
            <p:cNvSpPr>
              <a:spLocks noChangeArrowheads="1"/>
            </p:cNvSpPr>
            <p:nvPr/>
          </p:nvSpPr>
          <p:spPr bwMode="auto">
            <a:xfrm>
              <a:off x="2544" y="1632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 dirty="0" err="1"/>
                <a:t>i</a:t>
              </a:r>
              <a:endParaRPr lang="en-US" dirty="0"/>
            </a:p>
          </p:txBody>
        </p:sp>
        <p:sp>
          <p:nvSpPr>
            <p:cNvPr id="1206287" name="Oval 15"/>
            <p:cNvSpPr>
              <a:spLocks noChangeArrowheads="1"/>
            </p:cNvSpPr>
            <p:nvPr/>
          </p:nvSpPr>
          <p:spPr bwMode="auto">
            <a:xfrm>
              <a:off x="1824" y="1392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j</a:t>
              </a:r>
            </a:p>
          </p:txBody>
        </p:sp>
        <p:cxnSp>
          <p:nvCxnSpPr>
            <p:cNvPr id="1206288" name="AutoShape 16"/>
            <p:cNvCxnSpPr>
              <a:cxnSpLocks noChangeShapeType="1"/>
              <a:stCxn id="1206278" idx="4"/>
              <a:endCxn id="1206280" idx="0"/>
            </p:cNvCxnSpPr>
            <p:nvPr/>
          </p:nvCxnSpPr>
          <p:spPr bwMode="auto">
            <a:xfrm>
              <a:off x="672" y="1872"/>
              <a:ext cx="144" cy="432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</p:cxnSp>
        <p:cxnSp>
          <p:nvCxnSpPr>
            <p:cNvPr id="1206289" name="AutoShape 17"/>
            <p:cNvCxnSpPr>
              <a:cxnSpLocks noChangeShapeType="1"/>
              <a:stCxn id="1206280" idx="6"/>
              <a:endCxn id="1206281" idx="3"/>
            </p:cNvCxnSpPr>
            <p:nvPr/>
          </p:nvCxnSpPr>
          <p:spPr bwMode="auto">
            <a:xfrm flipV="1">
              <a:off x="912" y="2228"/>
              <a:ext cx="316" cy="172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</p:cxnSp>
        <p:cxnSp>
          <p:nvCxnSpPr>
            <p:cNvPr id="1206290" name="AutoShape 18"/>
            <p:cNvCxnSpPr>
              <a:cxnSpLocks noChangeShapeType="1"/>
              <a:stCxn id="1206279" idx="4"/>
              <a:endCxn id="1206281" idx="0"/>
            </p:cNvCxnSpPr>
            <p:nvPr/>
          </p:nvCxnSpPr>
          <p:spPr bwMode="auto">
            <a:xfrm flipH="1">
              <a:off x="1296" y="1632"/>
              <a:ext cx="48" cy="432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</p:cxnSp>
        <p:cxnSp>
          <p:nvCxnSpPr>
            <p:cNvPr id="1206291" name="AutoShape 19"/>
            <p:cNvCxnSpPr>
              <a:cxnSpLocks noChangeShapeType="1"/>
              <a:stCxn id="1206281" idx="4"/>
              <a:endCxn id="1206282" idx="0"/>
            </p:cNvCxnSpPr>
            <p:nvPr/>
          </p:nvCxnSpPr>
          <p:spPr bwMode="auto">
            <a:xfrm flipH="1">
              <a:off x="1248" y="2256"/>
              <a:ext cx="48" cy="384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</p:cxnSp>
        <p:cxnSp>
          <p:nvCxnSpPr>
            <p:cNvPr id="1206292" name="AutoShape 20"/>
            <p:cNvCxnSpPr>
              <a:cxnSpLocks noChangeShapeType="1"/>
              <a:stCxn id="1206282" idx="1"/>
              <a:endCxn id="1206280" idx="5"/>
            </p:cNvCxnSpPr>
            <p:nvPr/>
          </p:nvCxnSpPr>
          <p:spPr bwMode="auto">
            <a:xfrm flipH="1" flipV="1">
              <a:off x="884" y="2468"/>
              <a:ext cx="296" cy="20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</p:cxnSp>
        <p:cxnSp>
          <p:nvCxnSpPr>
            <p:cNvPr id="1206293" name="AutoShape 21"/>
            <p:cNvCxnSpPr>
              <a:cxnSpLocks noChangeShapeType="1"/>
              <a:stCxn id="1206281" idx="6"/>
              <a:endCxn id="1206285" idx="2"/>
            </p:cNvCxnSpPr>
            <p:nvPr/>
          </p:nvCxnSpPr>
          <p:spPr bwMode="auto">
            <a:xfrm>
              <a:off x="1392" y="2160"/>
              <a:ext cx="576" cy="0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</p:cxnSp>
        <p:cxnSp>
          <p:nvCxnSpPr>
            <p:cNvPr id="1206294" name="AutoShape 22"/>
            <p:cNvCxnSpPr>
              <a:cxnSpLocks noChangeShapeType="1"/>
              <a:stCxn id="1206282" idx="6"/>
              <a:endCxn id="1206283" idx="2"/>
            </p:cNvCxnSpPr>
            <p:nvPr/>
          </p:nvCxnSpPr>
          <p:spPr bwMode="auto">
            <a:xfrm>
              <a:off x="1344" y="2736"/>
              <a:ext cx="432" cy="48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</p:cxnSp>
        <p:cxnSp>
          <p:nvCxnSpPr>
            <p:cNvPr id="1206295" name="AutoShape 23"/>
            <p:cNvCxnSpPr>
              <a:cxnSpLocks noChangeShapeType="1"/>
              <a:stCxn id="1206285" idx="5"/>
              <a:endCxn id="1206284" idx="1"/>
            </p:cNvCxnSpPr>
            <p:nvPr/>
          </p:nvCxnSpPr>
          <p:spPr bwMode="auto">
            <a:xfrm>
              <a:off x="2132" y="2228"/>
              <a:ext cx="200" cy="344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</p:cxnSp>
        <p:cxnSp>
          <p:nvCxnSpPr>
            <p:cNvPr id="1206296" name="AutoShape 24"/>
            <p:cNvCxnSpPr>
              <a:cxnSpLocks noChangeShapeType="1"/>
              <a:stCxn id="1206286" idx="3"/>
              <a:endCxn id="1206285" idx="7"/>
            </p:cNvCxnSpPr>
            <p:nvPr/>
          </p:nvCxnSpPr>
          <p:spPr bwMode="auto">
            <a:xfrm flipH="1">
              <a:off x="2132" y="1796"/>
              <a:ext cx="440" cy="296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</p:cxnSp>
        <p:cxnSp>
          <p:nvCxnSpPr>
            <p:cNvPr id="1206297" name="AutoShape 25"/>
            <p:cNvCxnSpPr>
              <a:cxnSpLocks noChangeShapeType="1"/>
              <a:stCxn id="1206287" idx="6"/>
              <a:endCxn id="1206286" idx="1"/>
            </p:cNvCxnSpPr>
            <p:nvPr/>
          </p:nvCxnSpPr>
          <p:spPr bwMode="auto">
            <a:xfrm>
              <a:off x="2016" y="1488"/>
              <a:ext cx="556" cy="172"/>
            </a:xfrm>
            <a:prstGeom prst="straightConnector1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</p:cxnSp>
        <p:cxnSp>
          <p:nvCxnSpPr>
            <p:cNvPr id="1206298" name="AutoShape 26"/>
            <p:cNvCxnSpPr>
              <a:cxnSpLocks noChangeShapeType="1"/>
              <a:stCxn id="1206287" idx="4"/>
              <a:endCxn id="1206285" idx="0"/>
            </p:cNvCxnSpPr>
            <p:nvPr/>
          </p:nvCxnSpPr>
          <p:spPr bwMode="auto">
            <a:xfrm>
              <a:off x="1920" y="1584"/>
              <a:ext cx="144" cy="48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</p:cxnSp>
        <p:cxnSp>
          <p:nvCxnSpPr>
            <p:cNvPr id="1206299" name="AutoShape 27"/>
            <p:cNvCxnSpPr>
              <a:cxnSpLocks noChangeShapeType="1"/>
              <a:stCxn id="1206287" idx="2"/>
              <a:endCxn id="1206279" idx="6"/>
            </p:cNvCxnSpPr>
            <p:nvPr/>
          </p:nvCxnSpPr>
          <p:spPr bwMode="auto">
            <a:xfrm flipH="1">
              <a:off x="1440" y="1488"/>
              <a:ext cx="384" cy="4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</p:cxn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5105400" y="2209800"/>
            <a:ext cx="3048000" cy="2667000"/>
            <a:chOff x="3216" y="2016"/>
            <a:chExt cx="1920" cy="1680"/>
          </a:xfrm>
        </p:grpSpPr>
        <p:sp>
          <p:nvSpPr>
            <p:cNvPr id="1206301" name="Oval 29"/>
            <p:cNvSpPr>
              <a:spLocks noChangeArrowheads="1"/>
            </p:cNvSpPr>
            <p:nvPr/>
          </p:nvSpPr>
          <p:spPr bwMode="auto">
            <a:xfrm>
              <a:off x="3216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a</a:t>
              </a:r>
            </a:p>
          </p:txBody>
        </p:sp>
        <p:sp>
          <p:nvSpPr>
            <p:cNvPr id="1206302" name="Oval 30"/>
            <p:cNvSpPr>
              <a:spLocks noChangeArrowheads="1"/>
            </p:cNvSpPr>
            <p:nvPr/>
          </p:nvSpPr>
          <p:spPr bwMode="auto">
            <a:xfrm>
              <a:off x="3456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b</a:t>
              </a:r>
            </a:p>
          </p:txBody>
        </p:sp>
        <p:sp>
          <p:nvSpPr>
            <p:cNvPr id="1206303" name="Oval 31"/>
            <p:cNvSpPr>
              <a:spLocks noChangeArrowheads="1"/>
            </p:cNvSpPr>
            <p:nvPr/>
          </p:nvSpPr>
          <p:spPr bwMode="auto">
            <a:xfrm>
              <a:off x="3696" y="3024"/>
              <a:ext cx="192" cy="192"/>
            </a:xfrm>
            <a:prstGeom prst="ellipse">
              <a:avLst/>
            </a:prstGeom>
            <a:solidFill>
              <a:srgbClr val="FF0000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/>
            </a:p>
          </p:txBody>
        </p:sp>
        <p:sp>
          <p:nvSpPr>
            <p:cNvPr id="1206304" name="Oval 32"/>
            <p:cNvSpPr>
              <a:spLocks noChangeArrowheads="1"/>
            </p:cNvSpPr>
            <p:nvPr/>
          </p:nvSpPr>
          <p:spPr bwMode="auto">
            <a:xfrm>
              <a:off x="3936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e</a:t>
              </a:r>
            </a:p>
          </p:txBody>
        </p:sp>
        <p:sp>
          <p:nvSpPr>
            <p:cNvPr id="1206305" name="Oval 33"/>
            <p:cNvSpPr>
              <a:spLocks noChangeArrowheads="1"/>
            </p:cNvSpPr>
            <p:nvPr/>
          </p:nvSpPr>
          <p:spPr bwMode="auto">
            <a:xfrm>
              <a:off x="3574" y="350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c</a:t>
              </a:r>
            </a:p>
          </p:txBody>
        </p:sp>
        <p:sp>
          <p:nvSpPr>
            <p:cNvPr id="1206306" name="Oval 34"/>
            <p:cNvSpPr>
              <a:spLocks noChangeArrowheads="1"/>
            </p:cNvSpPr>
            <p:nvPr/>
          </p:nvSpPr>
          <p:spPr bwMode="auto">
            <a:xfrm>
              <a:off x="4032" y="2496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f</a:t>
              </a:r>
            </a:p>
          </p:txBody>
        </p:sp>
        <p:sp>
          <p:nvSpPr>
            <p:cNvPr id="1206307" name="Oval 35"/>
            <p:cNvSpPr>
              <a:spLocks noChangeArrowheads="1"/>
            </p:cNvSpPr>
            <p:nvPr/>
          </p:nvSpPr>
          <p:spPr bwMode="auto">
            <a:xfrm>
              <a:off x="4368" y="2496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g</a:t>
              </a:r>
            </a:p>
          </p:txBody>
        </p:sp>
        <p:sp>
          <p:nvSpPr>
            <p:cNvPr id="1206308" name="Oval 36"/>
            <p:cNvSpPr>
              <a:spLocks noChangeArrowheads="1"/>
            </p:cNvSpPr>
            <p:nvPr/>
          </p:nvSpPr>
          <p:spPr bwMode="auto">
            <a:xfrm>
              <a:off x="4464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h</a:t>
              </a:r>
            </a:p>
          </p:txBody>
        </p:sp>
        <p:sp>
          <p:nvSpPr>
            <p:cNvPr id="1206309" name="Oval 37"/>
            <p:cNvSpPr>
              <a:spLocks noChangeArrowheads="1"/>
            </p:cNvSpPr>
            <p:nvPr/>
          </p:nvSpPr>
          <p:spPr bwMode="auto">
            <a:xfrm>
              <a:off x="4704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i</a:t>
              </a:r>
            </a:p>
          </p:txBody>
        </p:sp>
        <p:sp>
          <p:nvSpPr>
            <p:cNvPr id="1206310" name="Oval 38"/>
            <p:cNvSpPr>
              <a:spLocks noChangeArrowheads="1"/>
            </p:cNvSpPr>
            <p:nvPr/>
          </p:nvSpPr>
          <p:spPr bwMode="auto">
            <a:xfrm>
              <a:off x="4944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j</a:t>
              </a:r>
            </a:p>
          </p:txBody>
        </p:sp>
        <p:sp>
          <p:nvSpPr>
            <p:cNvPr id="1206311" name="Oval 39"/>
            <p:cNvSpPr>
              <a:spLocks noChangeArrowheads="1"/>
            </p:cNvSpPr>
            <p:nvPr/>
          </p:nvSpPr>
          <p:spPr bwMode="auto">
            <a:xfrm>
              <a:off x="3818" y="350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d</a:t>
              </a:r>
            </a:p>
          </p:txBody>
        </p:sp>
        <p:sp>
          <p:nvSpPr>
            <p:cNvPr id="1206312" name="Oval 40"/>
            <p:cNvSpPr>
              <a:spLocks noChangeArrowheads="1"/>
            </p:cNvSpPr>
            <p:nvPr/>
          </p:nvSpPr>
          <p:spPr bwMode="auto">
            <a:xfrm>
              <a:off x="3600" y="2496"/>
              <a:ext cx="192" cy="192"/>
            </a:xfrm>
            <a:prstGeom prst="ellipse">
              <a:avLst/>
            </a:prstGeom>
            <a:solidFill>
              <a:srgbClr val="FF0000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/>
            </a:p>
          </p:txBody>
        </p:sp>
        <p:sp>
          <p:nvSpPr>
            <p:cNvPr id="1206313" name="Oval 41"/>
            <p:cNvSpPr>
              <a:spLocks noChangeArrowheads="1"/>
            </p:cNvSpPr>
            <p:nvPr/>
          </p:nvSpPr>
          <p:spPr bwMode="auto">
            <a:xfrm>
              <a:off x="4704" y="2496"/>
              <a:ext cx="192" cy="192"/>
            </a:xfrm>
            <a:prstGeom prst="ellipse">
              <a:avLst/>
            </a:prstGeom>
            <a:solidFill>
              <a:srgbClr val="FF0000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/>
            </a:p>
          </p:txBody>
        </p:sp>
        <p:sp>
          <p:nvSpPr>
            <p:cNvPr id="1206314" name="Oval 42"/>
            <p:cNvSpPr>
              <a:spLocks noChangeArrowheads="1"/>
            </p:cNvSpPr>
            <p:nvPr/>
          </p:nvSpPr>
          <p:spPr bwMode="auto">
            <a:xfrm>
              <a:off x="4176" y="2016"/>
              <a:ext cx="192" cy="192"/>
            </a:xfrm>
            <a:prstGeom prst="ellipse">
              <a:avLst/>
            </a:prstGeom>
            <a:solidFill>
              <a:srgbClr val="FF0000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/>
            </a:p>
          </p:txBody>
        </p:sp>
        <p:cxnSp>
          <p:nvCxnSpPr>
            <p:cNvPr id="1206315" name="AutoShape 43"/>
            <p:cNvCxnSpPr>
              <a:cxnSpLocks noChangeShapeType="1"/>
              <a:stCxn id="1206314" idx="3"/>
              <a:endCxn id="1206312" idx="7"/>
            </p:cNvCxnSpPr>
            <p:nvPr/>
          </p:nvCxnSpPr>
          <p:spPr bwMode="auto">
            <a:xfrm flipH="1">
              <a:off x="3764" y="2180"/>
              <a:ext cx="440" cy="34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16" name="AutoShape 44"/>
            <p:cNvCxnSpPr>
              <a:cxnSpLocks noChangeShapeType="1"/>
              <a:stCxn id="1206314" idx="4"/>
              <a:endCxn id="1206306" idx="0"/>
            </p:cNvCxnSpPr>
            <p:nvPr/>
          </p:nvCxnSpPr>
          <p:spPr bwMode="auto">
            <a:xfrm flipH="1">
              <a:off x="4128" y="2208"/>
              <a:ext cx="144" cy="2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17" name="AutoShape 45"/>
            <p:cNvCxnSpPr>
              <a:cxnSpLocks noChangeShapeType="1"/>
              <a:stCxn id="1206314" idx="4"/>
              <a:endCxn id="1206307" idx="0"/>
            </p:cNvCxnSpPr>
            <p:nvPr/>
          </p:nvCxnSpPr>
          <p:spPr bwMode="auto">
            <a:xfrm>
              <a:off x="4272" y="2208"/>
              <a:ext cx="192" cy="2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18" name="AutoShape 46"/>
            <p:cNvCxnSpPr>
              <a:cxnSpLocks noChangeShapeType="1"/>
              <a:stCxn id="1206314" idx="5"/>
              <a:endCxn id="1206313" idx="1"/>
            </p:cNvCxnSpPr>
            <p:nvPr/>
          </p:nvCxnSpPr>
          <p:spPr bwMode="auto">
            <a:xfrm>
              <a:off x="4340" y="2180"/>
              <a:ext cx="392" cy="34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19" name="AutoShape 47"/>
            <p:cNvCxnSpPr>
              <a:cxnSpLocks noChangeShapeType="1"/>
              <a:stCxn id="1206312" idx="4"/>
              <a:endCxn id="1206302" idx="0"/>
            </p:cNvCxnSpPr>
            <p:nvPr/>
          </p:nvCxnSpPr>
          <p:spPr bwMode="auto">
            <a:xfrm flipH="1">
              <a:off x="3552" y="2688"/>
              <a:ext cx="144" cy="3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20" name="AutoShape 48"/>
            <p:cNvCxnSpPr>
              <a:cxnSpLocks noChangeShapeType="1"/>
              <a:stCxn id="1206312" idx="4"/>
              <a:endCxn id="1206303" idx="0"/>
            </p:cNvCxnSpPr>
            <p:nvPr/>
          </p:nvCxnSpPr>
          <p:spPr bwMode="auto">
            <a:xfrm>
              <a:off x="3696" y="2688"/>
              <a:ext cx="96" cy="3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21" name="AutoShape 49"/>
            <p:cNvCxnSpPr>
              <a:cxnSpLocks noChangeShapeType="1"/>
              <a:stCxn id="1206312" idx="3"/>
              <a:endCxn id="1206301" idx="0"/>
            </p:cNvCxnSpPr>
            <p:nvPr/>
          </p:nvCxnSpPr>
          <p:spPr bwMode="auto">
            <a:xfrm flipH="1">
              <a:off x="3312" y="2660"/>
              <a:ext cx="316" cy="3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22" name="AutoShape 50"/>
            <p:cNvCxnSpPr>
              <a:cxnSpLocks noChangeShapeType="1"/>
              <a:stCxn id="1206312" idx="5"/>
              <a:endCxn id="1206304" idx="0"/>
            </p:cNvCxnSpPr>
            <p:nvPr/>
          </p:nvCxnSpPr>
          <p:spPr bwMode="auto">
            <a:xfrm>
              <a:off x="3764" y="2660"/>
              <a:ext cx="268" cy="3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23" name="AutoShape 51"/>
            <p:cNvCxnSpPr>
              <a:cxnSpLocks noChangeShapeType="1"/>
              <a:stCxn id="1206303" idx="4"/>
              <a:endCxn id="1206305" idx="0"/>
            </p:cNvCxnSpPr>
            <p:nvPr/>
          </p:nvCxnSpPr>
          <p:spPr bwMode="auto">
            <a:xfrm flipH="1">
              <a:off x="3670" y="3216"/>
              <a:ext cx="122" cy="2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24" name="AutoShape 52"/>
            <p:cNvCxnSpPr>
              <a:cxnSpLocks noChangeShapeType="1"/>
              <a:stCxn id="1206303" idx="4"/>
              <a:endCxn id="1206311" idx="0"/>
            </p:cNvCxnSpPr>
            <p:nvPr/>
          </p:nvCxnSpPr>
          <p:spPr bwMode="auto">
            <a:xfrm>
              <a:off x="3792" y="3216"/>
              <a:ext cx="122" cy="2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25" name="AutoShape 53"/>
            <p:cNvCxnSpPr>
              <a:cxnSpLocks noChangeShapeType="1"/>
              <a:stCxn id="1206313" idx="3"/>
              <a:endCxn id="1206308" idx="0"/>
            </p:cNvCxnSpPr>
            <p:nvPr/>
          </p:nvCxnSpPr>
          <p:spPr bwMode="auto">
            <a:xfrm flipH="1">
              <a:off x="4560" y="2660"/>
              <a:ext cx="172" cy="3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26" name="AutoShape 54"/>
            <p:cNvCxnSpPr>
              <a:cxnSpLocks noChangeShapeType="1"/>
              <a:stCxn id="1206313" idx="4"/>
              <a:endCxn id="1206309" idx="0"/>
            </p:cNvCxnSpPr>
            <p:nvPr/>
          </p:nvCxnSpPr>
          <p:spPr bwMode="auto">
            <a:xfrm>
              <a:off x="4800" y="2688"/>
              <a:ext cx="0" cy="3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27" name="AutoShape 55"/>
            <p:cNvCxnSpPr>
              <a:cxnSpLocks noChangeShapeType="1"/>
              <a:stCxn id="1206313" idx="5"/>
              <a:endCxn id="1206310" idx="0"/>
            </p:cNvCxnSpPr>
            <p:nvPr/>
          </p:nvCxnSpPr>
          <p:spPr bwMode="auto">
            <a:xfrm>
              <a:off x="4868" y="2660"/>
              <a:ext cx="172" cy="3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Steiner Preconditioners</a:t>
            </a:r>
            <a:endParaRPr lang="en-US" sz="3200" dirty="0"/>
          </a:p>
        </p:txBody>
      </p:sp>
      <p:sp>
        <p:nvSpPr>
          <p:cNvPr id="12062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TW" sz="2600" dirty="0" smtClean="0">
                <a:ea typeface="新細明體" pitchFamily="18" charset="-120"/>
              </a:rPr>
              <a:t>	Does it make sense?</a:t>
            </a:r>
          </a:p>
          <a:p>
            <a:pPr>
              <a:buFont typeface="Wingdings" pitchFamily="2" charset="2"/>
              <a:buNone/>
            </a:pPr>
            <a:endParaRPr lang="en-US" altLang="zh-TW" sz="2600" dirty="0" smtClean="0">
              <a:ea typeface="新細明體" pitchFamily="18" charset="-120"/>
            </a:endParaRPr>
          </a:p>
          <a:p>
            <a:r>
              <a:rPr lang="en-US" altLang="zh-TW" sz="2000" dirty="0" smtClean="0">
                <a:ea typeface="新細明體" pitchFamily="18" charset="-120"/>
              </a:rPr>
              <a:t>Usual preconditioners involve the solution of</a:t>
            </a:r>
          </a:p>
          <a:p>
            <a:endParaRPr lang="en-US" altLang="zh-TW" sz="2400" dirty="0" smtClean="0">
              <a:ea typeface="新細明體" pitchFamily="18" charset="-120"/>
            </a:endParaRPr>
          </a:p>
          <a:p>
            <a:r>
              <a:rPr lang="en-US" altLang="zh-TW" sz="2000" dirty="0" smtClean="0">
                <a:ea typeface="新細明體" pitchFamily="18" charset="-120"/>
              </a:rPr>
              <a:t>Steiner preconditioners</a:t>
            </a:r>
            <a:endParaRPr lang="en-US" altLang="zh-TW" sz="2000" dirty="0">
              <a:ea typeface="新細明體" pitchFamily="18" charset="-120"/>
            </a:endParaRPr>
          </a:p>
          <a:p>
            <a:endParaRPr lang="en-US" altLang="zh-TW" dirty="0" smtClean="0">
              <a:ea typeface="新細明體" pitchFamily="18" charset="-120"/>
            </a:endParaRPr>
          </a:p>
          <a:p>
            <a:endParaRPr lang="en-US" altLang="zh-TW" dirty="0" smtClean="0">
              <a:ea typeface="新細明體" pitchFamily="18" charset="-120"/>
            </a:endParaRPr>
          </a:p>
          <a:p>
            <a:r>
              <a:rPr lang="en-US" altLang="zh-TW" sz="2000" dirty="0" smtClean="0">
                <a:ea typeface="新細明體" pitchFamily="18" charset="-120"/>
              </a:rPr>
              <a:t>This is the linear operator</a:t>
            </a:r>
          </a:p>
          <a:p>
            <a:endParaRPr lang="en-US" altLang="zh-TW" sz="2000" dirty="0" smtClean="0">
              <a:ea typeface="新細明體" pitchFamily="18" charset="-120"/>
            </a:endParaRPr>
          </a:p>
          <a:p>
            <a:r>
              <a:rPr lang="en-US" altLang="zh-TW" sz="2000" dirty="0" smtClean="0">
                <a:ea typeface="新細明體" pitchFamily="18" charset="-120"/>
              </a:rPr>
              <a:t>The </a:t>
            </a:r>
            <a:r>
              <a:rPr lang="en-US" altLang="zh-TW" sz="2000" b="1" dirty="0" smtClean="0">
                <a:ea typeface="新細明體" pitchFamily="18" charset="-120"/>
              </a:rPr>
              <a:t>effective</a:t>
            </a:r>
            <a:r>
              <a:rPr lang="en-US" altLang="zh-TW" sz="2000" dirty="0" smtClean="0">
                <a:ea typeface="新細明體" pitchFamily="18" charset="-120"/>
              </a:rPr>
              <a:t> preconditioner</a:t>
            </a: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1206276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ctr">
              <a:buFont typeface="Wingdings" pitchFamily="2" charset="2"/>
              <a:buNone/>
            </a:pPr>
            <a:r>
              <a:rPr lang="en-US" altLang="zh-TW" b="1" dirty="0">
                <a:ea typeface="新細明體" pitchFamily="18" charset="-120"/>
              </a:rPr>
              <a:t>Steiner Tree</a:t>
            </a:r>
          </a:p>
          <a:p>
            <a:endParaRPr lang="en-US" altLang="zh-TW" b="1" dirty="0">
              <a:ea typeface="新細明體" pitchFamily="18" charset="-120"/>
            </a:endParaRPr>
          </a:p>
          <a:p>
            <a:endParaRPr lang="en-US" altLang="zh-TW" b="1" dirty="0">
              <a:ea typeface="新細明體" pitchFamily="18" charset="-120"/>
            </a:endParaRPr>
          </a:p>
          <a:p>
            <a:endParaRPr lang="en-US" altLang="zh-TW" b="1" dirty="0">
              <a:ea typeface="新細明體" pitchFamily="18" charset="-120"/>
            </a:endParaRPr>
          </a:p>
          <a:p>
            <a:endParaRPr lang="en-US" altLang="zh-TW" b="1" dirty="0">
              <a:ea typeface="新細明體" pitchFamily="18" charset="-120"/>
            </a:endParaRPr>
          </a:p>
          <a:p>
            <a:endParaRPr lang="en-US" altLang="zh-TW" b="1" dirty="0">
              <a:ea typeface="新細明體" pitchFamily="18" charset="-120"/>
            </a:endParaRPr>
          </a:p>
          <a:p>
            <a:endParaRPr lang="en-US" altLang="zh-TW" b="1" dirty="0">
              <a:ea typeface="新細明體" pitchFamily="18" charset="-120"/>
            </a:endParaRPr>
          </a:p>
          <a:p>
            <a:r>
              <a:rPr lang="en-US" altLang="zh-TW" sz="2000" dirty="0">
                <a:ea typeface="新細明體" pitchFamily="18" charset="-120"/>
              </a:rPr>
              <a:t>Laplacians have </a:t>
            </a:r>
            <a:r>
              <a:rPr lang="en-US" altLang="zh-TW" sz="2000" u="sng" dirty="0">
                <a:ea typeface="新細明體" pitchFamily="18" charset="-120"/>
              </a:rPr>
              <a:t>different</a:t>
            </a:r>
            <a:r>
              <a:rPr lang="en-US" altLang="zh-TW" sz="2000" dirty="0">
                <a:ea typeface="新細明體" pitchFamily="18" charset="-120"/>
              </a:rPr>
              <a:t> </a:t>
            </a:r>
            <a:r>
              <a:rPr lang="en-US" altLang="zh-TW" sz="2000" dirty="0" smtClean="0">
                <a:ea typeface="新細明體" pitchFamily="18" charset="-120"/>
              </a:rPr>
              <a:t>sizes</a:t>
            </a:r>
            <a:endParaRPr lang="en-US" altLang="zh-TW" sz="2000" dirty="0">
              <a:ea typeface="新細明體" pitchFamily="18" charset="-120"/>
            </a:endParaRPr>
          </a:p>
        </p:txBody>
      </p: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5105400" y="2209800"/>
            <a:ext cx="3048000" cy="2667000"/>
            <a:chOff x="3216" y="2016"/>
            <a:chExt cx="1920" cy="1680"/>
          </a:xfrm>
        </p:grpSpPr>
        <p:sp>
          <p:nvSpPr>
            <p:cNvPr id="1206301" name="Oval 29"/>
            <p:cNvSpPr>
              <a:spLocks noChangeArrowheads="1"/>
            </p:cNvSpPr>
            <p:nvPr/>
          </p:nvSpPr>
          <p:spPr bwMode="auto">
            <a:xfrm>
              <a:off x="3216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a</a:t>
              </a:r>
            </a:p>
          </p:txBody>
        </p:sp>
        <p:sp>
          <p:nvSpPr>
            <p:cNvPr id="1206302" name="Oval 30"/>
            <p:cNvSpPr>
              <a:spLocks noChangeArrowheads="1"/>
            </p:cNvSpPr>
            <p:nvPr/>
          </p:nvSpPr>
          <p:spPr bwMode="auto">
            <a:xfrm>
              <a:off x="3456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b</a:t>
              </a:r>
            </a:p>
          </p:txBody>
        </p:sp>
        <p:sp>
          <p:nvSpPr>
            <p:cNvPr id="1206303" name="Oval 31"/>
            <p:cNvSpPr>
              <a:spLocks noChangeArrowheads="1"/>
            </p:cNvSpPr>
            <p:nvPr/>
          </p:nvSpPr>
          <p:spPr bwMode="auto">
            <a:xfrm>
              <a:off x="3696" y="3024"/>
              <a:ext cx="192" cy="192"/>
            </a:xfrm>
            <a:prstGeom prst="ellipse">
              <a:avLst/>
            </a:prstGeom>
            <a:solidFill>
              <a:srgbClr val="FF0000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/>
            </a:p>
          </p:txBody>
        </p:sp>
        <p:sp>
          <p:nvSpPr>
            <p:cNvPr id="1206304" name="Oval 32"/>
            <p:cNvSpPr>
              <a:spLocks noChangeArrowheads="1"/>
            </p:cNvSpPr>
            <p:nvPr/>
          </p:nvSpPr>
          <p:spPr bwMode="auto">
            <a:xfrm>
              <a:off x="3936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e</a:t>
              </a:r>
            </a:p>
          </p:txBody>
        </p:sp>
        <p:sp>
          <p:nvSpPr>
            <p:cNvPr id="1206305" name="Oval 33"/>
            <p:cNvSpPr>
              <a:spLocks noChangeArrowheads="1"/>
            </p:cNvSpPr>
            <p:nvPr/>
          </p:nvSpPr>
          <p:spPr bwMode="auto">
            <a:xfrm>
              <a:off x="3574" y="350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c</a:t>
              </a:r>
            </a:p>
          </p:txBody>
        </p:sp>
        <p:sp>
          <p:nvSpPr>
            <p:cNvPr id="1206306" name="Oval 34"/>
            <p:cNvSpPr>
              <a:spLocks noChangeArrowheads="1"/>
            </p:cNvSpPr>
            <p:nvPr/>
          </p:nvSpPr>
          <p:spPr bwMode="auto">
            <a:xfrm>
              <a:off x="4032" y="2496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f</a:t>
              </a:r>
            </a:p>
          </p:txBody>
        </p:sp>
        <p:sp>
          <p:nvSpPr>
            <p:cNvPr id="1206307" name="Oval 35"/>
            <p:cNvSpPr>
              <a:spLocks noChangeArrowheads="1"/>
            </p:cNvSpPr>
            <p:nvPr/>
          </p:nvSpPr>
          <p:spPr bwMode="auto">
            <a:xfrm>
              <a:off x="4368" y="2496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g</a:t>
              </a:r>
            </a:p>
          </p:txBody>
        </p:sp>
        <p:sp>
          <p:nvSpPr>
            <p:cNvPr id="1206308" name="Oval 36"/>
            <p:cNvSpPr>
              <a:spLocks noChangeArrowheads="1"/>
            </p:cNvSpPr>
            <p:nvPr/>
          </p:nvSpPr>
          <p:spPr bwMode="auto">
            <a:xfrm>
              <a:off x="4464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h</a:t>
              </a:r>
            </a:p>
          </p:txBody>
        </p:sp>
        <p:sp>
          <p:nvSpPr>
            <p:cNvPr id="1206309" name="Oval 37"/>
            <p:cNvSpPr>
              <a:spLocks noChangeArrowheads="1"/>
            </p:cNvSpPr>
            <p:nvPr/>
          </p:nvSpPr>
          <p:spPr bwMode="auto">
            <a:xfrm>
              <a:off x="4704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i</a:t>
              </a:r>
            </a:p>
          </p:txBody>
        </p:sp>
        <p:sp>
          <p:nvSpPr>
            <p:cNvPr id="1206310" name="Oval 38"/>
            <p:cNvSpPr>
              <a:spLocks noChangeArrowheads="1"/>
            </p:cNvSpPr>
            <p:nvPr/>
          </p:nvSpPr>
          <p:spPr bwMode="auto">
            <a:xfrm>
              <a:off x="4944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j</a:t>
              </a:r>
            </a:p>
          </p:txBody>
        </p:sp>
        <p:sp>
          <p:nvSpPr>
            <p:cNvPr id="1206311" name="Oval 39"/>
            <p:cNvSpPr>
              <a:spLocks noChangeArrowheads="1"/>
            </p:cNvSpPr>
            <p:nvPr/>
          </p:nvSpPr>
          <p:spPr bwMode="auto">
            <a:xfrm>
              <a:off x="3818" y="350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d</a:t>
              </a:r>
            </a:p>
          </p:txBody>
        </p:sp>
        <p:sp>
          <p:nvSpPr>
            <p:cNvPr id="1206312" name="Oval 40"/>
            <p:cNvSpPr>
              <a:spLocks noChangeArrowheads="1"/>
            </p:cNvSpPr>
            <p:nvPr/>
          </p:nvSpPr>
          <p:spPr bwMode="auto">
            <a:xfrm>
              <a:off x="3600" y="2496"/>
              <a:ext cx="192" cy="192"/>
            </a:xfrm>
            <a:prstGeom prst="ellipse">
              <a:avLst/>
            </a:prstGeom>
            <a:solidFill>
              <a:srgbClr val="FF0000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/>
            </a:p>
          </p:txBody>
        </p:sp>
        <p:sp>
          <p:nvSpPr>
            <p:cNvPr id="1206313" name="Oval 41"/>
            <p:cNvSpPr>
              <a:spLocks noChangeArrowheads="1"/>
            </p:cNvSpPr>
            <p:nvPr/>
          </p:nvSpPr>
          <p:spPr bwMode="auto">
            <a:xfrm>
              <a:off x="4704" y="2496"/>
              <a:ext cx="192" cy="192"/>
            </a:xfrm>
            <a:prstGeom prst="ellipse">
              <a:avLst/>
            </a:prstGeom>
            <a:solidFill>
              <a:srgbClr val="FF0000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/>
            </a:p>
          </p:txBody>
        </p:sp>
        <p:sp>
          <p:nvSpPr>
            <p:cNvPr id="1206314" name="Oval 42"/>
            <p:cNvSpPr>
              <a:spLocks noChangeArrowheads="1"/>
            </p:cNvSpPr>
            <p:nvPr/>
          </p:nvSpPr>
          <p:spPr bwMode="auto">
            <a:xfrm>
              <a:off x="4176" y="2016"/>
              <a:ext cx="192" cy="192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chemeClr val="accent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/>
            </a:p>
          </p:txBody>
        </p:sp>
        <p:cxnSp>
          <p:nvCxnSpPr>
            <p:cNvPr id="1206315" name="AutoShape 43"/>
            <p:cNvCxnSpPr>
              <a:cxnSpLocks noChangeShapeType="1"/>
              <a:stCxn id="1206314" idx="3"/>
              <a:endCxn id="1206312" idx="7"/>
            </p:cNvCxnSpPr>
            <p:nvPr/>
          </p:nvCxnSpPr>
          <p:spPr bwMode="auto">
            <a:xfrm flipH="1">
              <a:off x="3764" y="2180"/>
              <a:ext cx="440" cy="34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16" name="AutoShape 44"/>
            <p:cNvCxnSpPr>
              <a:cxnSpLocks noChangeShapeType="1"/>
              <a:stCxn id="1206314" idx="4"/>
              <a:endCxn id="1206306" idx="0"/>
            </p:cNvCxnSpPr>
            <p:nvPr/>
          </p:nvCxnSpPr>
          <p:spPr bwMode="auto">
            <a:xfrm flipH="1">
              <a:off x="4128" y="2208"/>
              <a:ext cx="144" cy="2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17" name="AutoShape 45"/>
            <p:cNvCxnSpPr>
              <a:cxnSpLocks noChangeShapeType="1"/>
              <a:stCxn id="1206314" idx="4"/>
              <a:endCxn id="1206307" idx="0"/>
            </p:cNvCxnSpPr>
            <p:nvPr/>
          </p:nvCxnSpPr>
          <p:spPr bwMode="auto">
            <a:xfrm>
              <a:off x="4272" y="2208"/>
              <a:ext cx="192" cy="2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18" name="AutoShape 46"/>
            <p:cNvCxnSpPr>
              <a:cxnSpLocks noChangeShapeType="1"/>
              <a:stCxn id="1206314" idx="5"/>
              <a:endCxn id="1206313" idx="1"/>
            </p:cNvCxnSpPr>
            <p:nvPr/>
          </p:nvCxnSpPr>
          <p:spPr bwMode="auto">
            <a:xfrm>
              <a:off x="4340" y="2180"/>
              <a:ext cx="392" cy="34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19" name="AutoShape 47"/>
            <p:cNvCxnSpPr>
              <a:cxnSpLocks noChangeShapeType="1"/>
              <a:stCxn id="1206312" idx="4"/>
              <a:endCxn id="1206302" idx="0"/>
            </p:cNvCxnSpPr>
            <p:nvPr/>
          </p:nvCxnSpPr>
          <p:spPr bwMode="auto">
            <a:xfrm flipH="1">
              <a:off x="3552" y="2688"/>
              <a:ext cx="144" cy="3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20" name="AutoShape 48"/>
            <p:cNvCxnSpPr>
              <a:cxnSpLocks noChangeShapeType="1"/>
              <a:stCxn id="1206312" idx="4"/>
              <a:endCxn id="1206303" idx="0"/>
            </p:cNvCxnSpPr>
            <p:nvPr/>
          </p:nvCxnSpPr>
          <p:spPr bwMode="auto">
            <a:xfrm>
              <a:off x="3696" y="2688"/>
              <a:ext cx="96" cy="3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21" name="AutoShape 49"/>
            <p:cNvCxnSpPr>
              <a:cxnSpLocks noChangeShapeType="1"/>
              <a:stCxn id="1206312" idx="3"/>
              <a:endCxn id="1206301" idx="0"/>
            </p:cNvCxnSpPr>
            <p:nvPr/>
          </p:nvCxnSpPr>
          <p:spPr bwMode="auto">
            <a:xfrm flipH="1">
              <a:off x="3312" y="2660"/>
              <a:ext cx="316" cy="3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22" name="AutoShape 50"/>
            <p:cNvCxnSpPr>
              <a:cxnSpLocks noChangeShapeType="1"/>
              <a:stCxn id="1206312" idx="5"/>
              <a:endCxn id="1206304" idx="0"/>
            </p:cNvCxnSpPr>
            <p:nvPr/>
          </p:nvCxnSpPr>
          <p:spPr bwMode="auto">
            <a:xfrm>
              <a:off x="3764" y="2660"/>
              <a:ext cx="268" cy="3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23" name="AutoShape 51"/>
            <p:cNvCxnSpPr>
              <a:cxnSpLocks noChangeShapeType="1"/>
              <a:stCxn id="1206303" idx="4"/>
              <a:endCxn id="1206305" idx="0"/>
            </p:cNvCxnSpPr>
            <p:nvPr/>
          </p:nvCxnSpPr>
          <p:spPr bwMode="auto">
            <a:xfrm flipH="1">
              <a:off x="3670" y="3216"/>
              <a:ext cx="122" cy="2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24" name="AutoShape 52"/>
            <p:cNvCxnSpPr>
              <a:cxnSpLocks noChangeShapeType="1"/>
              <a:stCxn id="1206303" idx="4"/>
              <a:endCxn id="1206311" idx="0"/>
            </p:cNvCxnSpPr>
            <p:nvPr/>
          </p:nvCxnSpPr>
          <p:spPr bwMode="auto">
            <a:xfrm>
              <a:off x="3792" y="3216"/>
              <a:ext cx="122" cy="2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25" name="AutoShape 53"/>
            <p:cNvCxnSpPr>
              <a:cxnSpLocks noChangeShapeType="1"/>
              <a:stCxn id="1206313" idx="3"/>
              <a:endCxn id="1206308" idx="0"/>
            </p:cNvCxnSpPr>
            <p:nvPr/>
          </p:nvCxnSpPr>
          <p:spPr bwMode="auto">
            <a:xfrm flipH="1">
              <a:off x="4560" y="2660"/>
              <a:ext cx="172" cy="3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26" name="AutoShape 54"/>
            <p:cNvCxnSpPr>
              <a:cxnSpLocks noChangeShapeType="1"/>
              <a:stCxn id="1206313" idx="4"/>
              <a:endCxn id="1206309" idx="0"/>
            </p:cNvCxnSpPr>
            <p:nvPr/>
          </p:nvCxnSpPr>
          <p:spPr bwMode="auto">
            <a:xfrm>
              <a:off x="4800" y="2688"/>
              <a:ext cx="0" cy="3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06327" name="AutoShape 55"/>
            <p:cNvCxnSpPr>
              <a:cxnSpLocks noChangeShapeType="1"/>
              <a:stCxn id="1206313" idx="5"/>
              <a:endCxn id="1206310" idx="0"/>
            </p:cNvCxnSpPr>
            <p:nvPr/>
          </p:nvCxnSpPr>
          <p:spPr bwMode="auto">
            <a:xfrm>
              <a:off x="4868" y="2660"/>
              <a:ext cx="172" cy="3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pic>
        <p:nvPicPr>
          <p:cNvPr id="58" name="Picture 57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2895600" y="3200400"/>
            <a:ext cx="885341" cy="285980"/>
          </a:xfrm>
          <a:prstGeom prst="rect">
            <a:avLst/>
          </a:prstGeom>
          <a:noFill/>
          <a:ln/>
          <a:effectLst/>
        </p:spPr>
      </p:pic>
      <p:pic>
        <p:nvPicPr>
          <p:cNvPr id="62" name="Picture 61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2583766" y="4094661"/>
            <a:ext cx="1835834" cy="553539"/>
          </a:xfrm>
          <a:prstGeom prst="rect">
            <a:avLst/>
          </a:prstGeom>
          <a:noFill/>
          <a:ln/>
          <a:effectLst/>
        </p:spPr>
      </p:pic>
      <p:pic>
        <p:nvPicPr>
          <p:cNvPr id="69" name="Picture 68" descr="TP_tmp.em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1920042" y="5410200"/>
            <a:ext cx="2684054" cy="313453"/>
          </a:xfrm>
          <a:prstGeom prst="rect">
            <a:avLst/>
          </a:prstGeom>
          <a:noFill/>
          <a:ln/>
          <a:effectLst/>
        </p:spPr>
      </p:pic>
      <p:sp>
        <p:nvSpPr>
          <p:cNvPr id="70" name="Oval 69"/>
          <p:cNvSpPr/>
          <p:nvPr/>
        </p:nvSpPr>
        <p:spPr>
          <a:xfrm>
            <a:off x="2819400" y="4038600"/>
            <a:ext cx="1752600" cy="457200"/>
          </a:xfrm>
          <a:prstGeom prst="ellipse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6275" grpId="0" uiExpand="1" build="p"/>
      <p:bldP spid="70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9E55-C691-4EF8-A1CA-1B9E936514A2}" type="slidenum">
              <a:rPr lang="en-US"/>
              <a:pPr/>
              <a:t>15</a:t>
            </a:fld>
            <a:endParaRPr lang="en-US" dirty="0"/>
          </a:p>
        </p:txBody>
      </p:sp>
      <p:sp>
        <p:nvSpPr>
          <p:cNvPr id="12666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Steiner Preconditioners</a:t>
            </a:r>
            <a:br>
              <a:rPr lang="en-US" sz="3200" dirty="0" smtClean="0"/>
            </a:br>
            <a:r>
              <a:rPr lang="en-US" sz="3200" dirty="0" smtClean="0"/>
              <a:t>Support analysis</a:t>
            </a:r>
            <a:endParaRPr lang="en-US" sz="3200" dirty="0">
              <a:ea typeface="新細明體" pitchFamily="18" charset="-120"/>
            </a:endParaRPr>
          </a:p>
        </p:txBody>
      </p:sp>
      <p:sp>
        <p:nvSpPr>
          <p:cNvPr id="12666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TW" sz="2800" dirty="0" smtClean="0">
              <a:latin typeface="+mj-lt"/>
              <a:ea typeface="新細明體" pitchFamily="18" charset="-120"/>
            </a:endParaRPr>
          </a:p>
          <a:p>
            <a:endParaRPr lang="en-US" altLang="zh-TW" sz="2800" dirty="0" smtClean="0">
              <a:latin typeface="+mj-lt"/>
              <a:ea typeface="新細明體" pitchFamily="18" charset="-120"/>
            </a:endParaRPr>
          </a:p>
          <a:p>
            <a:endParaRPr lang="en-US" altLang="zh-TW" sz="2800" dirty="0" smtClean="0">
              <a:latin typeface="+mj-lt"/>
              <a:ea typeface="新細明體" pitchFamily="18" charset="-120"/>
            </a:endParaRPr>
          </a:p>
          <a:p>
            <a:endParaRPr lang="en-US" altLang="zh-TW" sz="2800" dirty="0" smtClean="0">
              <a:latin typeface="+mj-lt"/>
              <a:ea typeface="新細明體" pitchFamily="18" charset="-120"/>
            </a:endParaRPr>
          </a:p>
          <a:p>
            <a:endParaRPr lang="en-US" altLang="zh-TW" sz="2400" dirty="0" smtClean="0">
              <a:ea typeface="新細明體" pitchFamily="18" charset="-120"/>
            </a:endParaRPr>
          </a:p>
          <a:p>
            <a:r>
              <a:rPr lang="en-US" altLang="zh-TW" sz="2000" dirty="0" smtClean="0">
                <a:ea typeface="新細明體" pitchFamily="18" charset="-120"/>
              </a:rPr>
              <a:t>View the graph as an electric circuit. Set the voltages on the leaves and let the internal voltages float. If y are the internal voltages:</a:t>
            </a:r>
          </a:p>
          <a:p>
            <a:endParaRPr lang="en-US" altLang="zh-TW" sz="2400" dirty="0" smtClean="0">
              <a:ea typeface="新細明體" pitchFamily="18" charset="-120"/>
            </a:endParaRPr>
          </a:p>
          <a:p>
            <a:endParaRPr lang="en-US" altLang="zh-TW" sz="2400" dirty="0" smtClean="0">
              <a:ea typeface="新細明體" pitchFamily="18" charset="-120"/>
            </a:endParaRPr>
          </a:p>
          <a:p>
            <a:r>
              <a:rPr lang="en-US" altLang="zh-TW" sz="2000" dirty="0" smtClean="0">
                <a:ea typeface="新細明體" pitchFamily="18" charset="-120"/>
              </a:rPr>
              <a:t>y minimizes ( x y)</a:t>
            </a:r>
            <a:r>
              <a:rPr lang="en-US" altLang="zh-TW" sz="2000" baseline="30000" dirty="0" smtClean="0">
                <a:ea typeface="新細明體" pitchFamily="18" charset="-120"/>
              </a:rPr>
              <a:t>T</a:t>
            </a:r>
            <a:r>
              <a:rPr lang="en-US" altLang="zh-TW" sz="2000" dirty="0" smtClean="0">
                <a:ea typeface="新細明體" pitchFamily="18" charset="-120"/>
              </a:rPr>
              <a:t> </a:t>
            </a:r>
            <a:r>
              <a:rPr lang="en-US" altLang="zh-TW" sz="2000" dirty="0" err="1" smtClean="0">
                <a:ea typeface="新細明體" pitchFamily="18" charset="-120"/>
              </a:rPr>
              <a:t>T</a:t>
            </a:r>
            <a:r>
              <a:rPr lang="en-US" altLang="zh-TW" sz="2000" dirty="0" smtClean="0">
                <a:ea typeface="新細明體" pitchFamily="18" charset="-120"/>
              </a:rPr>
              <a:t> ( x y)</a:t>
            </a:r>
          </a:p>
          <a:p>
            <a:endParaRPr lang="en-US" altLang="zh-TW" sz="2400" dirty="0" smtClean="0">
              <a:ea typeface="新細明體" pitchFamily="18" charset="-120"/>
            </a:endParaRPr>
          </a:p>
          <a:p>
            <a:endParaRPr lang="en-US" altLang="zh-TW" sz="2400" dirty="0" smtClean="0">
              <a:ea typeface="新細明體" pitchFamily="18" charset="-120"/>
            </a:endParaRPr>
          </a:p>
          <a:p>
            <a:endParaRPr lang="en-US" altLang="zh-TW" sz="2400" dirty="0" smtClean="0">
              <a:ea typeface="新細明體" pitchFamily="18" charset="-120"/>
            </a:endParaRPr>
          </a:p>
          <a:p>
            <a:endParaRPr lang="en-US" altLang="zh-TW" sz="2800" dirty="0" smtClean="0">
              <a:latin typeface="+mj-lt"/>
              <a:ea typeface="新細明體" pitchFamily="18" charset="-120"/>
            </a:endParaRPr>
          </a:p>
          <a:p>
            <a:endParaRPr lang="en-US" altLang="zh-TW" sz="2800" dirty="0">
              <a:latin typeface="+mj-lt"/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  <a:p>
            <a:endParaRPr lang="en-US" altLang="zh-TW" dirty="0">
              <a:ea typeface="新細明體" pitchFamily="18" charset="-120"/>
            </a:endParaRPr>
          </a:p>
        </p:txBody>
      </p:sp>
      <p:pic>
        <p:nvPicPr>
          <p:cNvPr id="1266773" name="Picture 8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00400" y="4724401"/>
            <a:ext cx="3733800" cy="37995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</p:pic>
      <p:grpSp>
        <p:nvGrpSpPr>
          <p:cNvPr id="50" name="Group 28"/>
          <p:cNvGrpSpPr>
            <a:grpSpLocks/>
          </p:cNvGrpSpPr>
          <p:nvPr/>
        </p:nvGrpSpPr>
        <p:grpSpPr bwMode="auto">
          <a:xfrm>
            <a:off x="3429000" y="1905000"/>
            <a:ext cx="2590800" cy="1752600"/>
            <a:chOff x="3216" y="2016"/>
            <a:chExt cx="1920" cy="1680"/>
          </a:xfrm>
        </p:grpSpPr>
        <p:sp>
          <p:nvSpPr>
            <p:cNvPr id="51" name="Oval 29"/>
            <p:cNvSpPr>
              <a:spLocks noChangeArrowheads="1"/>
            </p:cNvSpPr>
            <p:nvPr/>
          </p:nvSpPr>
          <p:spPr bwMode="auto">
            <a:xfrm>
              <a:off x="3216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a</a:t>
              </a:r>
            </a:p>
          </p:txBody>
        </p:sp>
        <p:sp>
          <p:nvSpPr>
            <p:cNvPr id="52" name="Oval 30"/>
            <p:cNvSpPr>
              <a:spLocks noChangeArrowheads="1"/>
            </p:cNvSpPr>
            <p:nvPr/>
          </p:nvSpPr>
          <p:spPr bwMode="auto">
            <a:xfrm>
              <a:off x="3456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b</a:t>
              </a:r>
            </a:p>
          </p:txBody>
        </p:sp>
        <p:sp>
          <p:nvSpPr>
            <p:cNvPr id="53" name="Oval 31"/>
            <p:cNvSpPr>
              <a:spLocks noChangeArrowheads="1"/>
            </p:cNvSpPr>
            <p:nvPr/>
          </p:nvSpPr>
          <p:spPr bwMode="auto">
            <a:xfrm>
              <a:off x="3696" y="3024"/>
              <a:ext cx="192" cy="192"/>
            </a:xfrm>
            <a:prstGeom prst="ellipse">
              <a:avLst/>
            </a:prstGeom>
            <a:solidFill>
              <a:srgbClr val="FF0000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/>
            </a:p>
          </p:txBody>
        </p:sp>
        <p:sp>
          <p:nvSpPr>
            <p:cNvPr id="54" name="Oval 32"/>
            <p:cNvSpPr>
              <a:spLocks noChangeArrowheads="1"/>
            </p:cNvSpPr>
            <p:nvPr/>
          </p:nvSpPr>
          <p:spPr bwMode="auto">
            <a:xfrm>
              <a:off x="3936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e</a:t>
              </a:r>
            </a:p>
          </p:txBody>
        </p:sp>
        <p:sp>
          <p:nvSpPr>
            <p:cNvPr id="55" name="Oval 33"/>
            <p:cNvSpPr>
              <a:spLocks noChangeArrowheads="1"/>
            </p:cNvSpPr>
            <p:nvPr/>
          </p:nvSpPr>
          <p:spPr bwMode="auto">
            <a:xfrm>
              <a:off x="3574" y="350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c</a:t>
              </a:r>
            </a:p>
          </p:txBody>
        </p:sp>
        <p:sp>
          <p:nvSpPr>
            <p:cNvPr id="56" name="Oval 34"/>
            <p:cNvSpPr>
              <a:spLocks noChangeArrowheads="1"/>
            </p:cNvSpPr>
            <p:nvPr/>
          </p:nvSpPr>
          <p:spPr bwMode="auto">
            <a:xfrm>
              <a:off x="4032" y="2496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f</a:t>
              </a:r>
            </a:p>
          </p:txBody>
        </p:sp>
        <p:sp>
          <p:nvSpPr>
            <p:cNvPr id="57" name="Oval 35"/>
            <p:cNvSpPr>
              <a:spLocks noChangeArrowheads="1"/>
            </p:cNvSpPr>
            <p:nvPr/>
          </p:nvSpPr>
          <p:spPr bwMode="auto">
            <a:xfrm>
              <a:off x="4368" y="2496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g</a:t>
              </a:r>
            </a:p>
          </p:txBody>
        </p:sp>
        <p:sp>
          <p:nvSpPr>
            <p:cNvPr id="58" name="Oval 36"/>
            <p:cNvSpPr>
              <a:spLocks noChangeArrowheads="1"/>
            </p:cNvSpPr>
            <p:nvPr/>
          </p:nvSpPr>
          <p:spPr bwMode="auto">
            <a:xfrm>
              <a:off x="4464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h</a:t>
              </a:r>
            </a:p>
          </p:txBody>
        </p:sp>
        <p:sp>
          <p:nvSpPr>
            <p:cNvPr id="59" name="Oval 37"/>
            <p:cNvSpPr>
              <a:spLocks noChangeArrowheads="1"/>
            </p:cNvSpPr>
            <p:nvPr/>
          </p:nvSpPr>
          <p:spPr bwMode="auto">
            <a:xfrm>
              <a:off x="4704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i</a:t>
              </a:r>
            </a:p>
          </p:txBody>
        </p:sp>
        <p:sp>
          <p:nvSpPr>
            <p:cNvPr id="60" name="Oval 38"/>
            <p:cNvSpPr>
              <a:spLocks noChangeArrowheads="1"/>
            </p:cNvSpPr>
            <p:nvPr/>
          </p:nvSpPr>
          <p:spPr bwMode="auto">
            <a:xfrm>
              <a:off x="4944" y="302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j</a:t>
              </a:r>
            </a:p>
          </p:txBody>
        </p:sp>
        <p:sp>
          <p:nvSpPr>
            <p:cNvPr id="61" name="Oval 39"/>
            <p:cNvSpPr>
              <a:spLocks noChangeArrowheads="1"/>
            </p:cNvSpPr>
            <p:nvPr/>
          </p:nvSpPr>
          <p:spPr bwMode="auto">
            <a:xfrm>
              <a:off x="3818" y="3504"/>
              <a:ext cx="192" cy="192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/>
                <a:t>d</a:t>
              </a:r>
            </a:p>
          </p:txBody>
        </p:sp>
        <p:sp>
          <p:nvSpPr>
            <p:cNvPr id="62" name="Oval 40"/>
            <p:cNvSpPr>
              <a:spLocks noChangeArrowheads="1"/>
            </p:cNvSpPr>
            <p:nvPr/>
          </p:nvSpPr>
          <p:spPr bwMode="auto">
            <a:xfrm>
              <a:off x="3600" y="2496"/>
              <a:ext cx="192" cy="192"/>
            </a:xfrm>
            <a:prstGeom prst="ellipse">
              <a:avLst/>
            </a:prstGeom>
            <a:solidFill>
              <a:srgbClr val="FF0000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/>
            </a:p>
          </p:txBody>
        </p:sp>
        <p:sp>
          <p:nvSpPr>
            <p:cNvPr id="63" name="Oval 41"/>
            <p:cNvSpPr>
              <a:spLocks noChangeArrowheads="1"/>
            </p:cNvSpPr>
            <p:nvPr/>
          </p:nvSpPr>
          <p:spPr bwMode="auto">
            <a:xfrm>
              <a:off x="4704" y="2496"/>
              <a:ext cx="192" cy="192"/>
            </a:xfrm>
            <a:prstGeom prst="ellipse">
              <a:avLst/>
            </a:prstGeom>
            <a:solidFill>
              <a:srgbClr val="FF0000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/>
            </a:p>
          </p:txBody>
        </p:sp>
        <p:sp>
          <p:nvSpPr>
            <p:cNvPr id="64" name="Oval 42"/>
            <p:cNvSpPr>
              <a:spLocks noChangeArrowheads="1"/>
            </p:cNvSpPr>
            <p:nvPr/>
          </p:nvSpPr>
          <p:spPr bwMode="auto">
            <a:xfrm>
              <a:off x="4176" y="2016"/>
              <a:ext cx="192" cy="192"/>
            </a:xfrm>
            <a:prstGeom prst="ellipse">
              <a:avLst/>
            </a:prstGeom>
            <a:solidFill>
              <a:srgbClr val="FF0000"/>
            </a:solidFill>
            <a:ln w="12700" algn="ctr">
              <a:solidFill>
                <a:schemeClr val="accent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/>
            </a:p>
          </p:txBody>
        </p:sp>
        <p:cxnSp>
          <p:nvCxnSpPr>
            <p:cNvPr id="65" name="AutoShape 43"/>
            <p:cNvCxnSpPr>
              <a:cxnSpLocks noChangeShapeType="1"/>
              <a:stCxn id="64" idx="3"/>
              <a:endCxn id="62" idx="7"/>
            </p:cNvCxnSpPr>
            <p:nvPr/>
          </p:nvCxnSpPr>
          <p:spPr bwMode="auto">
            <a:xfrm flipH="1">
              <a:off x="3764" y="2180"/>
              <a:ext cx="440" cy="34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6" name="AutoShape 44"/>
            <p:cNvCxnSpPr>
              <a:cxnSpLocks noChangeShapeType="1"/>
              <a:stCxn id="64" idx="4"/>
              <a:endCxn id="56" idx="0"/>
            </p:cNvCxnSpPr>
            <p:nvPr/>
          </p:nvCxnSpPr>
          <p:spPr bwMode="auto">
            <a:xfrm flipH="1">
              <a:off x="4128" y="2208"/>
              <a:ext cx="144" cy="2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7" name="AutoShape 45"/>
            <p:cNvCxnSpPr>
              <a:cxnSpLocks noChangeShapeType="1"/>
              <a:stCxn id="64" idx="4"/>
              <a:endCxn id="57" idx="0"/>
            </p:cNvCxnSpPr>
            <p:nvPr/>
          </p:nvCxnSpPr>
          <p:spPr bwMode="auto">
            <a:xfrm>
              <a:off x="4272" y="2208"/>
              <a:ext cx="192" cy="2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8" name="AutoShape 46"/>
            <p:cNvCxnSpPr>
              <a:cxnSpLocks noChangeShapeType="1"/>
              <a:stCxn id="64" idx="5"/>
              <a:endCxn id="63" idx="1"/>
            </p:cNvCxnSpPr>
            <p:nvPr/>
          </p:nvCxnSpPr>
          <p:spPr bwMode="auto">
            <a:xfrm>
              <a:off x="4340" y="2180"/>
              <a:ext cx="392" cy="34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69" name="AutoShape 47"/>
            <p:cNvCxnSpPr>
              <a:cxnSpLocks noChangeShapeType="1"/>
              <a:stCxn id="62" idx="4"/>
              <a:endCxn id="52" idx="0"/>
            </p:cNvCxnSpPr>
            <p:nvPr/>
          </p:nvCxnSpPr>
          <p:spPr bwMode="auto">
            <a:xfrm flipH="1">
              <a:off x="3552" y="2688"/>
              <a:ext cx="144" cy="3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0" name="AutoShape 48"/>
            <p:cNvCxnSpPr>
              <a:cxnSpLocks noChangeShapeType="1"/>
              <a:stCxn id="62" idx="4"/>
              <a:endCxn id="53" idx="0"/>
            </p:cNvCxnSpPr>
            <p:nvPr/>
          </p:nvCxnSpPr>
          <p:spPr bwMode="auto">
            <a:xfrm>
              <a:off x="3696" y="2688"/>
              <a:ext cx="96" cy="3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1" name="AutoShape 49"/>
            <p:cNvCxnSpPr>
              <a:cxnSpLocks noChangeShapeType="1"/>
              <a:stCxn id="62" idx="3"/>
              <a:endCxn id="51" idx="0"/>
            </p:cNvCxnSpPr>
            <p:nvPr/>
          </p:nvCxnSpPr>
          <p:spPr bwMode="auto">
            <a:xfrm flipH="1">
              <a:off x="3312" y="2660"/>
              <a:ext cx="316" cy="3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2" name="AutoShape 50"/>
            <p:cNvCxnSpPr>
              <a:cxnSpLocks noChangeShapeType="1"/>
              <a:stCxn id="62" idx="5"/>
              <a:endCxn id="54" idx="0"/>
            </p:cNvCxnSpPr>
            <p:nvPr/>
          </p:nvCxnSpPr>
          <p:spPr bwMode="auto">
            <a:xfrm>
              <a:off x="3764" y="2660"/>
              <a:ext cx="268" cy="3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3" name="AutoShape 51"/>
            <p:cNvCxnSpPr>
              <a:cxnSpLocks noChangeShapeType="1"/>
              <a:stCxn id="53" idx="4"/>
              <a:endCxn id="55" idx="0"/>
            </p:cNvCxnSpPr>
            <p:nvPr/>
          </p:nvCxnSpPr>
          <p:spPr bwMode="auto">
            <a:xfrm flipH="1">
              <a:off x="3670" y="3216"/>
              <a:ext cx="122" cy="2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4" name="AutoShape 52"/>
            <p:cNvCxnSpPr>
              <a:cxnSpLocks noChangeShapeType="1"/>
              <a:stCxn id="53" idx="4"/>
              <a:endCxn id="61" idx="0"/>
            </p:cNvCxnSpPr>
            <p:nvPr/>
          </p:nvCxnSpPr>
          <p:spPr bwMode="auto">
            <a:xfrm>
              <a:off x="3792" y="3216"/>
              <a:ext cx="122" cy="28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5" name="AutoShape 53"/>
            <p:cNvCxnSpPr>
              <a:cxnSpLocks noChangeShapeType="1"/>
              <a:stCxn id="63" idx="3"/>
              <a:endCxn id="58" idx="0"/>
            </p:cNvCxnSpPr>
            <p:nvPr/>
          </p:nvCxnSpPr>
          <p:spPr bwMode="auto">
            <a:xfrm flipH="1">
              <a:off x="4560" y="2660"/>
              <a:ext cx="172" cy="3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6" name="AutoShape 54"/>
            <p:cNvCxnSpPr>
              <a:cxnSpLocks noChangeShapeType="1"/>
              <a:stCxn id="63" idx="4"/>
              <a:endCxn id="59" idx="0"/>
            </p:cNvCxnSpPr>
            <p:nvPr/>
          </p:nvCxnSpPr>
          <p:spPr bwMode="auto">
            <a:xfrm>
              <a:off x="4800" y="2688"/>
              <a:ext cx="0" cy="336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7" name="AutoShape 55"/>
            <p:cNvCxnSpPr>
              <a:cxnSpLocks noChangeShapeType="1"/>
              <a:stCxn id="63" idx="5"/>
              <a:endCxn id="60" idx="0"/>
            </p:cNvCxnSpPr>
            <p:nvPr/>
          </p:nvCxnSpPr>
          <p:spPr bwMode="auto">
            <a:xfrm>
              <a:off x="4868" y="2660"/>
              <a:ext cx="172" cy="3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Steiner Preconditioners</a:t>
            </a:r>
            <a:br>
              <a:rPr lang="en-US" sz="3200" dirty="0" smtClean="0"/>
            </a:br>
            <a:r>
              <a:rPr lang="en-US" sz="3200" dirty="0" smtClean="0"/>
              <a:t>Support analysis for the star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7479792" cy="466344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Precondition any graph with one Steiner node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This gives </a:t>
            </a:r>
          </a:p>
          <a:p>
            <a:endParaRPr lang="en-US" sz="2400" dirty="0" smtClean="0"/>
          </a:p>
          <a:p>
            <a:r>
              <a:rPr lang="en-US" sz="2400" dirty="0" smtClean="0"/>
              <a:t>How about the other direction? </a:t>
            </a:r>
          </a:p>
          <a:p>
            <a:r>
              <a:rPr lang="en-US" sz="2400" dirty="0" smtClean="0"/>
              <a:t>The effective preconditioner</a:t>
            </a:r>
          </a:p>
        </p:txBody>
      </p:sp>
      <p:sp>
        <p:nvSpPr>
          <p:cNvPr id="6" name="Oval 16"/>
          <p:cNvSpPr>
            <a:spLocks noChangeArrowheads="1"/>
          </p:cNvSpPr>
          <p:nvPr/>
        </p:nvSpPr>
        <p:spPr bwMode="auto">
          <a:xfrm>
            <a:off x="2133600" y="2667000"/>
            <a:ext cx="1905000" cy="5334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Oval 36"/>
          <p:cNvSpPr>
            <a:spLocks noChangeArrowheads="1"/>
          </p:cNvSpPr>
          <p:nvPr/>
        </p:nvSpPr>
        <p:spPr bwMode="auto">
          <a:xfrm>
            <a:off x="5791200" y="28956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" name="Oval 37"/>
          <p:cNvSpPr>
            <a:spLocks noChangeArrowheads="1"/>
          </p:cNvSpPr>
          <p:nvPr/>
        </p:nvSpPr>
        <p:spPr bwMode="auto">
          <a:xfrm>
            <a:off x="6400800" y="28956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/>
              <a:t>i</a:t>
            </a:r>
          </a:p>
        </p:txBody>
      </p:sp>
      <p:sp>
        <p:nvSpPr>
          <p:cNvPr id="9" name="Oval 38"/>
          <p:cNvSpPr>
            <a:spLocks noChangeArrowheads="1"/>
          </p:cNvSpPr>
          <p:nvPr/>
        </p:nvSpPr>
        <p:spPr bwMode="auto">
          <a:xfrm>
            <a:off x="6781800" y="28956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 dirty="0"/>
              <a:t>j</a:t>
            </a:r>
          </a:p>
        </p:txBody>
      </p:sp>
      <p:sp>
        <p:nvSpPr>
          <p:cNvPr id="10" name="Oval 41"/>
          <p:cNvSpPr>
            <a:spLocks noChangeArrowheads="1"/>
          </p:cNvSpPr>
          <p:nvPr/>
        </p:nvSpPr>
        <p:spPr bwMode="auto">
          <a:xfrm>
            <a:off x="6400800" y="2057400"/>
            <a:ext cx="304800" cy="304800"/>
          </a:xfrm>
          <a:prstGeom prst="ellipse">
            <a:avLst/>
          </a:prstGeom>
          <a:solidFill>
            <a:srgbClr val="FF0000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endParaRPr lang="en-US"/>
          </a:p>
        </p:txBody>
      </p:sp>
      <p:cxnSp>
        <p:nvCxnSpPr>
          <p:cNvPr id="11" name="AutoShape 53"/>
          <p:cNvCxnSpPr>
            <a:cxnSpLocks noChangeShapeType="1"/>
            <a:stCxn id="10" idx="3"/>
            <a:endCxn id="7" idx="0"/>
          </p:cNvCxnSpPr>
          <p:nvPr/>
        </p:nvCxnSpPr>
        <p:spPr bwMode="auto">
          <a:xfrm rot="5400000">
            <a:off x="5905501" y="2355663"/>
            <a:ext cx="578037" cy="5018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" name="AutoShape 54"/>
          <p:cNvCxnSpPr>
            <a:cxnSpLocks noChangeShapeType="1"/>
            <a:stCxn id="10" idx="4"/>
            <a:endCxn id="8" idx="0"/>
          </p:cNvCxnSpPr>
          <p:nvPr/>
        </p:nvCxnSpPr>
        <p:spPr bwMode="auto">
          <a:xfrm>
            <a:off x="6553200" y="2362200"/>
            <a:ext cx="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3" name="AutoShape 55"/>
          <p:cNvCxnSpPr>
            <a:cxnSpLocks noChangeShapeType="1"/>
            <a:stCxn id="10" idx="5"/>
            <a:endCxn id="9" idx="0"/>
          </p:cNvCxnSpPr>
          <p:nvPr/>
        </p:nvCxnSpPr>
        <p:spPr bwMode="auto">
          <a:xfrm>
            <a:off x="6661150" y="2317750"/>
            <a:ext cx="273050" cy="577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6" name="AutoShape 53"/>
          <p:cNvCxnSpPr>
            <a:cxnSpLocks noChangeShapeType="1"/>
            <a:stCxn id="10" idx="6"/>
            <a:endCxn id="23" idx="0"/>
          </p:cNvCxnSpPr>
          <p:nvPr/>
        </p:nvCxnSpPr>
        <p:spPr bwMode="auto">
          <a:xfrm>
            <a:off x="6705600" y="2209800"/>
            <a:ext cx="914400" cy="685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3" name="Oval 38"/>
          <p:cNvSpPr>
            <a:spLocks noChangeArrowheads="1"/>
          </p:cNvSpPr>
          <p:nvPr/>
        </p:nvSpPr>
        <p:spPr bwMode="auto">
          <a:xfrm>
            <a:off x="7467600" y="28956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 dirty="0" smtClean="0"/>
              <a:t>n</a:t>
            </a:r>
            <a:endParaRPr lang="en-US" dirty="0"/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2743200" y="2895600"/>
            <a:ext cx="685800" cy="76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37"/>
          <p:cNvSpPr>
            <a:spLocks noChangeArrowheads="1"/>
          </p:cNvSpPr>
          <p:nvPr/>
        </p:nvSpPr>
        <p:spPr bwMode="auto">
          <a:xfrm>
            <a:off x="2438400" y="28194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/>
              <a:t>i</a:t>
            </a:r>
          </a:p>
        </p:txBody>
      </p:sp>
      <p:sp>
        <p:nvSpPr>
          <p:cNvPr id="32" name="Oval 37"/>
          <p:cNvSpPr>
            <a:spLocks noChangeArrowheads="1"/>
          </p:cNvSpPr>
          <p:nvPr/>
        </p:nvSpPr>
        <p:spPr bwMode="auto">
          <a:xfrm>
            <a:off x="3429000" y="27432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 dirty="0" smtClean="0"/>
              <a:t>j</a:t>
            </a:r>
            <a:endParaRPr lang="en-US" dirty="0"/>
          </a:p>
        </p:txBody>
      </p:sp>
      <p:cxnSp>
        <p:nvCxnSpPr>
          <p:cNvPr id="33" name="AutoShape 54"/>
          <p:cNvCxnSpPr>
            <a:cxnSpLocks noChangeShapeType="1"/>
          </p:cNvCxnSpPr>
          <p:nvPr/>
        </p:nvCxnSpPr>
        <p:spPr bwMode="auto">
          <a:xfrm>
            <a:off x="6553200" y="2362200"/>
            <a:ext cx="0" cy="5334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34" name="AutoShape 54"/>
          <p:cNvCxnSpPr>
            <a:cxnSpLocks noChangeShapeType="1"/>
            <a:stCxn id="10" idx="5"/>
            <a:endCxn id="9" idx="0"/>
          </p:cNvCxnSpPr>
          <p:nvPr/>
        </p:nvCxnSpPr>
        <p:spPr bwMode="auto">
          <a:xfrm rot="16200000" flipH="1">
            <a:off x="6508563" y="2469962"/>
            <a:ext cx="578037" cy="273237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5562600" y="2362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Gill Sans MT"/>
              </a:rPr>
              <a:t>W</a:t>
            </a:r>
            <a:r>
              <a:rPr lang="en-US" baseline="-25000" dirty="0" smtClean="0">
                <a:latin typeface="Gill Sans MT"/>
              </a:rPr>
              <a:t>1</a:t>
            </a:r>
            <a:endParaRPr lang="en-US" baseline="-25000" dirty="0">
              <a:latin typeface="Gill Sans M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72200" y="260246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Gill Sans MT"/>
              </a:rPr>
              <a:t>W</a:t>
            </a:r>
            <a:r>
              <a:rPr lang="en-US" baseline="-25000" dirty="0" err="1" smtClean="0">
                <a:latin typeface="Gill Sans MT"/>
              </a:rPr>
              <a:t>i</a:t>
            </a:r>
            <a:endParaRPr lang="en-US" baseline="-25000" dirty="0">
              <a:latin typeface="Gill Sans M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58000" y="2514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Gill Sans MT"/>
              </a:rPr>
              <a:t>W</a:t>
            </a:r>
            <a:r>
              <a:rPr lang="en-US" baseline="-25000" dirty="0" err="1" smtClean="0">
                <a:latin typeface="Gill Sans MT"/>
              </a:rPr>
              <a:t>j</a:t>
            </a:r>
            <a:endParaRPr lang="en-US" baseline="-25000" dirty="0">
              <a:latin typeface="Gill Sans M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62800" y="2209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Gill Sans MT"/>
              </a:rPr>
              <a:t>W</a:t>
            </a:r>
            <a:r>
              <a:rPr lang="en-US" baseline="-25000" dirty="0" err="1" smtClean="0">
                <a:latin typeface="Gill Sans MT"/>
              </a:rPr>
              <a:t>n</a:t>
            </a:r>
            <a:endParaRPr lang="en-US" baseline="-25000" dirty="0">
              <a:latin typeface="Gill Sans MT"/>
            </a:endParaRPr>
          </a:p>
        </p:txBody>
      </p:sp>
      <p:pic>
        <p:nvPicPr>
          <p:cNvPr id="44" name="Picture 43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3124200" y="3383279"/>
            <a:ext cx="1799939" cy="313703"/>
          </a:xfrm>
          <a:prstGeom prst="rect">
            <a:avLst/>
          </a:prstGeom>
          <a:noFill/>
          <a:ln/>
          <a:effectLst/>
        </p:spPr>
      </p:pic>
      <p:pic>
        <p:nvPicPr>
          <p:cNvPr id="47" name="Picture 46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3438830" y="5334000"/>
            <a:ext cx="1971370" cy="570841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8" grpId="0"/>
      <p:bldP spid="39" grpId="0"/>
      <p:bldP spid="40" grpId="0"/>
      <p:bldP spid="4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Steiner Preconditioners</a:t>
            </a:r>
            <a:br>
              <a:rPr lang="en-US" sz="3200" dirty="0" smtClean="0"/>
            </a:br>
            <a:r>
              <a:rPr lang="en-US" sz="3200" dirty="0" smtClean="0"/>
              <a:t>Support analysis for the star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7479792" cy="466344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Precondition any graph with one Steiner node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Bounding </a:t>
            </a:r>
          </a:p>
        </p:txBody>
      </p:sp>
      <p:sp>
        <p:nvSpPr>
          <p:cNvPr id="6" name="Oval 16"/>
          <p:cNvSpPr>
            <a:spLocks noChangeArrowheads="1"/>
          </p:cNvSpPr>
          <p:nvPr/>
        </p:nvSpPr>
        <p:spPr bwMode="auto">
          <a:xfrm>
            <a:off x="2133600" y="2667000"/>
            <a:ext cx="1905000" cy="5334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Oval 36"/>
          <p:cNvSpPr>
            <a:spLocks noChangeArrowheads="1"/>
          </p:cNvSpPr>
          <p:nvPr/>
        </p:nvSpPr>
        <p:spPr bwMode="auto">
          <a:xfrm>
            <a:off x="5791200" y="28956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" name="Oval 37"/>
          <p:cNvSpPr>
            <a:spLocks noChangeArrowheads="1"/>
          </p:cNvSpPr>
          <p:nvPr/>
        </p:nvSpPr>
        <p:spPr bwMode="auto">
          <a:xfrm>
            <a:off x="6400800" y="28956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/>
              <a:t>i</a:t>
            </a:r>
          </a:p>
        </p:txBody>
      </p:sp>
      <p:sp>
        <p:nvSpPr>
          <p:cNvPr id="9" name="Oval 38"/>
          <p:cNvSpPr>
            <a:spLocks noChangeArrowheads="1"/>
          </p:cNvSpPr>
          <p:nvPr/>
        </p:nvSpPr>
        <p:spPr bwMode="auto">
          <a:xfrm>
            <a:off x="6781800" y="28956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 dirty="0"/>
              <a:t>j</a:t>
            </a:r>
          </a:p>
        </p:txBody>
      </p:sp>
      <p:sp>
        <p:nvSpPr>
          <p:cNvPr id="10" name="Oval 41"/>
          <p:cNvSpPr>
            <a:spLocks noChangeArrowheads="1"/>
          </p:cNvSpPr>
          <p:nvPr/>
        </p:nvSpPr>
        <p:spPr bwMode="auto">
          <a:xfrm>
            <a:off x="6400800" y="2057400"/>
            <a:ext cx="304800" cy="304800"/>
          </a:xfrm>
          <a:prstGeom prst="ellipse">
            <a:avLst/>
          </a:prstGeom>
          <a:solidFill>
            <a:srgbClr val="FF0000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endParaRPr lang="en-US"/>
          </a:p>
        </p:txBody>
      </p:sp>
      <p:cxnSp>
        <p:nvCxnSpPr>
          <p:cNvPr id="11" name="AutoShape 53"/>
          <p:cNvCxnSpPr>
            <a:cxnSpLocks noChangeShapeType="1"/>
            <a:stCxn id="10" idx="3"/>
            <a:endCxn id="7" idx="0"/>
          </p:cNvCxnSpPr>
          <p:nvPr/>
        </p:nvCxnSpPr>
        <p:spPr bwMode="auto">
          <a:xfrm rot="5400000">
            <a:off x="5905501" y="2355663"/>
            <a:ext cx="578037" cy="5018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" name="AutoShape 54"/>
          <p:cNvCxnSpPr>
            <a:cxnSpLocks noChangeShapeType="1"/>
            <a:stCxn id="10" idx="4"/>
            <a:endCxn id="8" idx="0"/>
          </p:cNvCxnSpPr>
          <p:nvPr/>
        </p:nvCxnSpPr>
        <p:spPr bwMode="auto">
          <a:xfrm>
            <a:off x="6553200" y="2362200"/>
            <a:ext cx="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3" name="AutoShape 55"/>
          <p:cNvCxnSpPr>
            <a:cxnSpLocks noChangeShapeType="1"/>
            <a:stCxn id="10" idx="5"/>
            <a:endCxn id="9" idx="0"/>
          </p:cNvCxnSpPr>
          <p:nvPr/>
        </p:nvCxnSpPr>
        <p:spPr bwMode="auto">
          <a:xfrm>
            <a:off x="6661150" y="2317750"/>
            <a:ext cx="273050" cy="577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6" name="AutoShape 53"/>
          <p:cNvCxnSpPr>
            <a:cxnSpLocks noChangeShapeType="1"/>
            <a:stCxn id="10" idx="6"/>
            <a:endCxn id="23" idx="0"/>
          </p:cNvCxnSpPr>
          <p:nvPr/>
        </p:nvCxnSpPr>
        <p:spPr bwMode="auto">
          <a:xfrm>
            <a:off x="6705600" y="2209800"/>
            <a:ext cx="914400" cy="685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3" name="Oval 38"/>
          <p:cNvSpPr>
            <a:spLocks noChangeArrowheads="1"/>
          </p:cNvSpPr>
          <p:nvPr/>
        </p:nvSpPr>
        <p:spPr bwMode="auto">
          <a:xfrm>
            <a:off x="7467600" y="28956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 dirty="0" smtClean="0"/>
              <a:t>n</a:t>
            </a:r>
            <a:endParaRPr lang="en-US" dirty="0"/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2743200" y="2895600"/>
            <a:ext cx="685800" cy="76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37"/>
          <p:cNvSpPr>
            <a:spLocks noChangeArrowheads="1"/>
          </p:cNvSpPr>
          <p:nvPr/>
        </p:nvSpPr>
        <p:spPr bwMode="auto">
          <a:xfrm>
            <a:off x="2438400" y="28194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/>
              <a:t>i</a:t>
            </a:r>
          </a:p>
        </p:txBody>
      </p:sp>
      <p:sp>
        <p:nvSpPr>
          <p:cNvPr id="32" name="Oval 37"/>
          <p:cNvSpPr>
            <a:spLocks noChangeArrowheads="1"/>
          </p:cNvSpPr>
          <p:nvPr/>
        </p:nvSpPr>
        <p:spPr bwMode="auto">
          <a:xfrm>
            <a:off x="3429000" y="27432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 dirty="0" smtClean="0"/>
              <a:t>j</a:t>
            </a:r>
            <a:endParaRPr lang="en-US" dirty="0"/>
          </a:p>
        </p:txBody>
      </p:sp>
      <p:cxnSp>
        <p:nvCxnSpPr>
          <p:cNvPr id="33" name="AutoShape 54"/>
          <p:cNvCxnSpPr>
            <a:cxnSpLocks noChangeShapeType="1"/>
          </p:cNvCxnSpPr>
          <p:nvPr/>
        </p:nvCxnSpPr>
        <p:spPr bwMode="auto">
          <a:xfrm>
            <a:off x="6553200" y="2362200"/>
            <a:ext cx="0" cy="5334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34" name="AutoShape 54"/>
          <p:cNvCxnSpPr>
            <a:cxnSpLocks noChangeShapeType="1"/>
            <a:stCxn id="10" idx="5"/>
            <a:endCxn id="9" idx="0"/>
          </p:cNvCxnSpPr>
          <p:nvPr/>
        </p:nvCxnSpPr>
        <p:spPr bwMode="auto">
          <a:xfrm rot="16200000" flipH="1">
            <a:off x="6508563" y="2469962"/>
            <a:ext cx="578037" cy="273237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5486400" y="2362200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Gill Sans MT"/>
              </a:rPr>
              <a:t>W</a:t>
            </a:r>
            <a:r>
              <a:rPr lang="en-US" baseline="-25000" dirty="0" smtClean="0">
                <a:latin typeface="Gill Sans MT"/>
              </a:rPr>
              <a:t>1</a:t>
            </a:r>
            <a:endParaRPr lang="en-US" baseline="-25000" dirty="0">
              <a:latin typeface="Gill Sans M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72200" y="260246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Gill Sans MT"/>
              </a:rPr>
              <a:t>W</a:t>
            </a:r>
            <a:r>
              <a:rPr lang="en-US" baseline="-25000" dirty="0" err="1" smtClean="0">
                <a:latin typeface="Gill Sans MT"/>
              </a:rPr>
              <a:t>i</a:t>
            </a:r>
            <a:endParaRPr lang="en-US" baseline="-25000" dirty="0">
              <a:latin typeface="Gill Sans M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58000" y="2514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Gill Sans MT"/>
              </a:rPr>
              <a:t>W</a:t>
            </a:r>
            <a:r>
              <a:rPr lang="en-US" baseline="-25000" dirty="0" err="1" smtClean="0">
                <a:latin typeface="Gill Sans MT"/>
              </a:rPr>
              <a:t>j</a:t>
            </a:r>
            <a:endParaRPr lang="en-US" baseline="-25000" dirty="0">
              <a:latin typeface="Gill Sans M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62800" y="2209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Gill Sans MT"/>
              </a:rPr>
              <a:t>W</a:t>
            </a:r>
            <a:r>
              <a:rPr lang="en-US" baseline="-25000" dirty="0" err="1" smtClean="0">
                <a:latin typeface="Gill Sans MT"/>
              </a:rPr>
              <a:t>n</a:t>
            </a:r>
            <a:endParaRPr lang="en-US" baseline="-25000" dirty="0">
              <a:latin typeface="Gill Sans MT"/>
            </a:endParaRPr>
          </a:p>
        </p:txBody>
      </p:sp>
      <p:pic>
        <p:nvPicPr>
          <p:cNvPr id="35" name="Picture 34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5367342" y="3657600"/>
            <a:ext cx="1971370" cy="570841"/>
          </a:xfrm>
          <a:prstGeom prst="rect">
            <a:avLst/>
          </a:prstGeom>
          <a:noFill/>
          <a:ln/>
          <a:effectLst/>
        </p:spPr>
      </p:pic>
      <p:pic>
        <p:nvPicPr>
          <p:cNvPr id="36" name="Picture 35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1843074" y="4724400"/>
            <a:ext cx="5743258" cy="457745"/>
          </a:xfrm>
          <a:prstGeom prst="rect">
            <a:avLst/>
          </a:prstGeom>
          <a:noFill/>
          <a:ln/>
          <a:effectLst/>
        </p:spPr>
      </p:pic>
      <p:sp>
        <p:nvSpPr>
          <p:cNvPr id="45" name="Oval 44"/>
          <p:cNvSpPr>
            <a:spLocks noChangeArrowheads="1"/>
          </p:cNvSpPr>
          <p:nvPr/>
        </p:nvSpPr>
        <p:spPr bwMode="auto">
          <a:xfrm>
            <a:off x="4724400" y="4648200"/>
            <a:ext cx="838200" cy="685800"/>
          </a:xfrm>
          <a:prstGeom prst="ellipse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Oval 46"/>
          <p:cNvSpPr>
            <a:spLocks noChangeArrowheads="1"/>
          </p:cNvSpPr>
          <p:nvPr/>
        </p:nvSpPr>
        <p:spPr bwMode="auto">
          <a:xfrm>
            <a:off x="5715000" y="4648200"/>
            <a:ext cx="838200" cy="685800"/>
          </a:xfrm>
          <a:prstGeom prst="ellipse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572000" y="5715000"/>
            <a:ext cx="1219200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constant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0" name="Straight Arrow Connector 49"/>
          <p:cNvCxnSpPr>
            <a:endCxn id="45" idx="4"/>
          </p:cNvCxnSpPr>
          <p:nvPr/>
        </p:nvCxnSpPr>
        <p:spPr>
          <a:xfrm rot="5400000" flipH="1" flipV="1">
            <a:off x="4857750" y="5429250"/>
            <a:ext cx="381000" cy="1905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endCxn id="47" idx="3"/>
          </p:cNvCxnSpPr>
          <p:nvPr/>
        </p:nvCxnSpPr>
        <p:spPr>
          <a:xfrm rot="5400000" flipH="1" flipV="1">
            <a:off x="5535660" y="5412908"/>
            <a:ext cx="481433" cy="12275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>
            <a:spLocks noChangeArrowheads="1"/>
          </p:cNvSpPr>
          <p:nvPr/>
        </p:nvSpPr>
        <p:spPr bwMode="auto">
          <a:xfrm>
            <a:off x="6781800" y="4648200"/>
            <a:ext cx="838200" cy="685800"/>
          </a:xfrm>
          <a:prstGeom prst="ellipse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6324600" y="5715000"/>
            <a:ext cx="1219200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>
                <a:solidFill>
                  <a:srgbClr val="FF0000"/>
                </a:solidFill>
              </a:rPr>
              <a:t>Cheeger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5" name="Straight Arrow Connector 54"/>
          <p:cNvCxnSpPr/>
          <p:nvPr/>
        </p:nvCxnSpPr>
        <p:spPr>
          <a:xfrm rot="10800000">
            <a:off x="5334000" y="5257800"/>
            <a:ext cx="1143000" cy="4572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3" idx="4"/>
            <a:endCxn id="54" idx="0"/>
          </p:cNvCxnSpPr>
          <p:nvPr/>
        </p:nvCxnSpPr>
        <p:spPr>
          <a:xfrm rot="5400000">
            <a:off x="6877050" y="5391150"/>
            <a:ext cx="381000" cy="2667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5" grpId="0" animBg="1"/>
      <p:bldP spid="47" grpId="0" animBg="1"/>
      <p:bldP spid="48" grpId="0" animBg="1"/>
      <p:bldP spid="53" grpId="0" animBg="1"/>
      <p:bldP spid="5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7479792" cy="466344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Precondition any graph with one Steiner node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000" dirty="0" smtClean="0"/>
              <a:t>Graph </a:t>
            </a:r>
            <a:r>
              <a:rPr lang="en-US" sz="2000" b="1" dirty="0" smtClean="0"/>
              <a:t>must be</a:t>
            </a:r>
            <a:r>
              <a:rPr lang="en-US" sz="2000" dirty="0" smtClean="0"/>
              <a:t> an expander (i.e. has </a:t>
            </a:r>
            <a:r>
              <a:rPr lang="en-US" sz="2000" b="1" dirty="0" smtClean="0"/>
              <a:t>no sparse </a:t>
            </a:r>
            <a:r>
              <a:rPr lang="en-US" sz="2000" dirty="0" smtClean="0"/>
              <a:t>cuts)</a:t>
            </a:r>
          </a:p>
          <a:p>
            <a:r>
              <a:rPr lang="en-US" sz="2000" dirty="0" smtClean="0"/>
              <a:t>Weights </a:t>
            </a:r>
            <a:r>
              <a:rPr lang="en-US" sz="2000" dirty="0" smtClean="0">
                <a:latin typeface="Gill Sans MT"/>
              </a:rPr>
              <a:t>in star</a:t>
            </a:r>
            <a:r>
              <a:rPr lang="en-US" sz="2000" dirty="0" smtClean="0"/>
              <a:t> should not be much larger than weights in A</a:t>
            </a:r>
          </a:p>
          <a:p>
            <a:r>
              <a:rPr lang="en-US" sz="2000" dirty="0" smtClean="0"/>
              <a:t>If </a:t>
            </a:r>
            <a:r>
              <a:rPr lang="en-US" sz="2400" dirty="0" smtClean="0"/>
              <a:t>                  </a:t>
            </a:r>
            <a:r>
              <a:rPr lang="en-US" sz="2000" dirty="0" smtClean="0"/>
              <a:t>the weight </a:t>
            </a:r>
            <a:r>
              <a:rPr lang="en-US" sz="2000" dirty="0" err="1" smtClean="0">
                <a:latin typeface="Gill Sans MT"/>
              </a:rPr>
              <a:t>W</a:t>
            </a:r>
            <a:r>
              <a:rPr lang="en-US" sz="2000" baseline="-25000" dirty="0" err="1" smtClean="0">
                <a:latin typeface="Gill Sans MT"/>
              </a:rPr>
              <a:t>n</a:t>
            </a:r>
            <a:r>
              <a:rPr lang="en-US" sz="2000" dirty="0" smtClean="0"/>
              <a:t> in the star can be arbitrarily large </a:t>
            </a:r>
          </a:p>
          <a:p>
            <a:endParaRPr lang="en-US" sz="24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Steiner Preconditioners</a:t>
            </a:r>
            <a:br>
              <a:rPr lang="en-US" sz="3200" dirty="0" smtClean="0"/>
            </a:br>
            <a:r>
              <a:rPr lang="en-US" sz="3200" dirty="0" smtClean="0"/>
              <a:t>Support analysis for the star</a:t>
            </a:r>
            <a:endParaRPr lang="en-US" sz="3200" dirty="0"/>
          </a:p>
        </p:txBody>
      </p:sp>
      <p:sp>
        <p:nvSpPr>
          <p:cNvPr id="6" name="Oval 16"/>
          <p:cNvSpPr>
            <a:spLocks noChangeArrowheads="1"/>
          </p:cNvSpPr>
          <p:nvPr/>
        </p:nvSpPr>
        <p:spPr bwMode="auto">
          <a:xfrm>
            <a:off x="2133600" y="2667000"/>
            <a:ext cx="1905000" cy="5334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Oval 36"/>
          <p:cNvSpPr>
            <a:spLocks noChangeArrowheads="1"/>
          </p:cNvSpPr>
          <p:nvPr/>
        </p:nvSpPr>
        <p:spPr bwMode="auto">
          <a:xfrm>
            <a:off x="5791200" y="28956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" name="Oval 37"/>
          <p:cNvSpPr>
            <a:spLocks noChangeArrowheads="1"/>
          </p:cNvSpPr>
          <p:nvPr/>
        </p:nvSpPr>
        <p:spPr bwMode="auto">
          <a:xfrm>
            <a:off x="6400800" y="28956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/>
              <a:t>i</a:t>
            </a:r>
          </a:p>
        </p:txBody>
      </p:sp>
      <p:sp>
        <p:nvSpPr>
          <p:cNvPr id="9" name="Oval 38"/>
          <p:cNvSpPr>
            <a:spLocks noChangeArrowheads="1"/>
          </p:cNvSpPr>
          <p:nvPr/>
        </p:nvSpPr>
        <p:spPr bwMode="auto">
          <a:xfrm>
            <a:off x="6781800" y="28956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 dirty="0"/>
              <a:t>j</a:t>
            </a:r>
          </a:p>
        </p:txBody>
      </p:sp>
      <p:sp>
        <p:nvSpPr>
          <p:cNvPr id="10" name="Oval 41"/>
          <p:cNvSpPr>
            <a:spLocks noChangeArrowheads="1"/>
          </p:cNvSpPr>
          <p:nvPr/>
        </p:nvSpPr>
        <p:spPr bwMode="auto">
          <a:xfrm>
            <a:off x="6400800" y="2057400"/>
            <a:ext cx="304800" cy="304800"/>
          </a:xfrm>
          <a:prstGeom prst="ellipse">
            <a:avLst/>
          </a:prstGeom>
          <a:solidFill>
            <a:srgbClr val="FF0000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endParaRPr lang="en-US"/>
          </a:p>
        </p:txBody>
      </p:sp>
      <p:cxnSp>
        <p:nvCxnSpPr>
          <p:cNvPr id="11" name="AutoShape 53"/>
          <p:cNvCxnSpPr>
            <a:cxnSpLocks noChangeShapeType="1"/>
            <a:stCxn id="10" idx="3"/>
            <a:endCxn id="7" idx="0"/>
          </p:cNvCxnSpPr>
          <p:nvPr/>
        </p:nvCxnSpPr>
        <p:spPr bwMode="auto">
          <a:xfrm rot="5400000">
            <a:off x="5905501" y="2355663"/>
            <a:ext cx="578037" cy="5018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" name="AutoShape 54"/>
          <p:cNvCxnSpPr>
            <a:cxnSpLocks noChangeShapeType="1"/>
            <a:stCxn id="10" idx="4"/>
            <a:endCxn id="8" idx="0"/>
          </p:cNvCxnSpPr>
          <p:nvPr/>
        </p:nvCxnSpPr>
        <p:spPr bwMode="auto">
          <a:xfrm>
            <a:off x="6553200" y="2362200"/>
            <a:ext cx="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3" name="AutoShape 55"/>
          <p:cNvCxnSpPr>
            <a:cxnSpLocks noChangeShapeType="1"/>
            <a:stCxn id="10" idx="5"/>
            <a:endCxn id="9" idx="0"/>
          </p:cNvCxnSpPr>
          <p:nvPr/>
        </p:nvCxnSpPr>
        <p:spPr bwMode="auto">
          <a:xfrm>
            <a:off x="6661150" y="2317750"/>
            <a:ext cx="273050" cy="577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6" name="AutoShape 53"/>
          <p:cNvCxnSpPr>
            <a:cxnSpLocks noChangeShapeType="1"/>
            <a:stCxn id="10" idx="6"/>
            <a:endCxn id="23" idx="0"/>
          </p:cNvCxnSpPr>
          <p:nvPr/>
        </p:nvCxnSpPr>
        <p:spPr bwMode="auto">
          <a:xfrm>
            <a:off x="6705600" y="2209800"/>
            <a:ext cx="914400" cy="685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3" name="Oval 38"/>
          <p:cNvSpPr>
            <a:spLocks noChangeArrowheads="1"/>
          </p:cNvSpPr>
          <p:nvPr/>
        </p:nvSpPr>
        <p:spPr bwMode="auto">
          <a:xfrm>
            <a:off x="7467600" y="28956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32" name="Oval 37"/>
          <p:cNvSpPr>
            <a:spLocks noChangeArrowheads="1"/>
          </p:cNvSpPr>
          <p:nvPr/>
        </p:nvSpPr>
        <p:spPr bwMode="auto">
          <a:xfrm>
            <a:off x="3200400" y="2819400"/>
            <a:ext cx="3810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 dirty="0" smtClean="0"/>
              <a:t>n</a:t>
            </a:r>
            <a:endParaRPr lang="en-US" dirty="0"/>
          </a:p>
        </p:txBody>
      </p:sp>
      <p:cxnSp>
        <p:nvCxnSpPr>
          <p:cNvPr id="33" name="AutoShape 54"/>
          <p:cNvCxnSpPr>
            <a:cxnSpLocks noChangeShapeType="1"/>
          </p:cNvCxnSpPr>
          <p:nvPr/>
        </p:nvCxnSpPr>
        <p:spPr bwMode="auto">
          <a:xfrm>
            <a:off x="6553200" y="2362200"/>
            <a:ext cx="0" cy="5334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34" name="AutoShape 54"/>
          <p:cNvCxnSpPr>
            <a:cxnSpLocks noChangeShapeType="1"/>
            <a:stCxn id="10" idx="5"/>
            <a:endCxn id="9" idx="0"/>
          </p:cNvCxnSpPr>
          <p:nvPr/>
        </p:nvCxnSpPr>
        <p:spPr bwMode="auto">
          <a:xfrm rot="16200000" flipH="1">
            <a:off x="6508563" y="2469962"/>
            <a:ext cx="578037" cy="273237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5562600" y="23622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Gill Sans MT"/>
              </a:rPr>
              <a:t>W</a:t>
            </a:r>
            <a:r>
              <a:rPr lang="en-US" baseline="-25000" dirty="0" smtClean="0">
                <a:latin typeface="Gill Sans MT"/>
              </a:rPr>
              <a:t>1</a:t>
            </a:r>
            <a:endParaRPr lang="en-US" baseline="-25000" dirty="0">
              <a:latin typeface="Gill Sans M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72200" y="260246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Gill Sans MT"/>
              </a:rPr>
              <a:t>W</a:t>
            </a:r>
            <a:r>
              <a:rPr lang="en-US" baseline="-25000" dirty="0" err="1" smtClean="0">
                <a:latin typeface="Gill Sans MT"/>
              </a:rPr>
              <a:t>i</a:t>
            </a:r>
            <a:endParaRPr lang="en-US" baseline="-25000" dirty="0">
              <a:latin typeface="Gill Sans M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58000" y="251460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Gill Sans MT"/>
              </a:rPr>
              <a:t>W</a:t>
            </a:r>
            <a:r>
              <a:rPr lang="en-US" baseline="-25000" dirty="0" err="1" smtClean="0">
                <a:latin typeface="Gill Sans MT"/>
              </a:rPr>
              <a:t>j</a:t>
            </a:r>
            <a:endParaRPr lang="en-US" baseline="-25000" dirty="0">
              <a:latin typeface="Gill Sans M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62800" y="22098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Gill Sans MT"/>
              </a:rPr>
              <a:t>W</a:t>
            </a:r>
            <a:r>
              <a:rPr lang="en-US" baseline="-25000" dirty="0" err="1" smtClean="0">
                <a:latin typeface="Gill Sans MT"/>
              </a:rPr>
              <a:t>n</a:t>
            </a:r>
            <a:endParaRPr lang="en-US" baseline="-25000" dirty="0">
              <a:latin typeface="Gill Sans MT"/>
            </a:endParaRPr>
          </a:p>
        </p:txBody>
      </p:sp>
      <p:pic>
        <p:nvPicPr>
          <p:cNvPr id="62" name="Picture 61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2083306" y="4648200"/>
            <a:ext cx="1421894" cy="278892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AutoShape 53"/>
          <p:cNvCxnSpPr>
            <a:cxnSpLocks noChangeShapeType="1"/>
            <a:endCxn id="41" idx="6"/>
          </p:cNvCxnSpPr>
          <p:nvPr/>
        </p:nvCxnSpPr>
        <p:spPr bwMode="auto">
          <a:xfrm rot="10800000">
            <a:off x="3124200" y="3506609"/>
            <a:ext cx="2362200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43" name="AutoShape 54"/>
          <p:cNvCxnSpPr>
            <a:cxnSpLocks noChangeShapeType="1"/>
            <a:endCxn id="39" idx="0"/>
          </p:cNvCxnSpPr>
          <p:nvPr/>
        </p:nvCxnSpPr>
        <p:spPr bwMode="auto">
          <a:xfrm>
            <a:off x="2971800" y="3659009"/>
            <a:ext cx="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grpSp>
        <p:nvGrpSpPr>
          <p:cNvPr id="83" name="Group 82"/>
          <p:cNvGrpSpPr/>
          <p:nvPr/>
        </p:nvGrpSpPr>
        <p:grpSpPr>
          <a:xfrm>
            <a:off x="4876800" y="3354209"/>
            <a:ext cx="1524000" cy="1143000"/>
            <a:chOff x="4876800" y="2971800"/>
            <a:chExt cx="1524000" cy="1143000"/>
          </a:xfrm>
        </p:grpSpPr>
        <p:sp>
          <p:nvSpPr>
            <p:cNvPr id="68" name="Oval 36"/>
            <p:cNvSpPr>
              <a:spLocks noChangeArrowheads="1"/>
            </p:cNvSpPr>
            <p:nvPr/>
          </p:nvSpPr>
          <p:spPr bwMode="auto">
            <a:xfrm>
              <a:off x="4876800" y="3810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 dirty="0"/>
            </a:p>
          </p:txBody>
        </p:sp>
        <p:sp>
          <p:nvSpPr>
            <p:cNvPr id="69" name="Oval 37"/>
            <p:cNvSpPr>
              <a:spLocks noChangeArrowheads="1"/>
            </p:cNvSpPr>
            <p:nvPr/>
          </p:nvSpPr>
          <p:spPr bwMode="auto">
            <a:xfrm>
              <a:off x="5486400" y="3810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 dirty="0" smtClean="0"/>
                <a:t>j</a:t>
              </a:r>
              <a:endParaRPr lang="en-US" dirty="0"/>
            </a:p>
          </p:txBody>
        </p:sp>
        <p:sp>
          <p:nvSpPr>
            <p:cNvPr id="70" name="Oval 41"/>
            <p:cNvSpPr>
              <a:spLocks noChangeArrowheads="1"/>
            </p:cNvSpPr>
            <p:nvPr/>
          </p:nvSpPr>
          <p:spPr bwMode="auto">
            <a:xfrm>
              <a:off x="5486400" y="2971800"/>
              <a:ext cx="304800" cy="304800"/>
            </a:xfrm>
            <a:prstGeom prst="ellipse">
              <a:avLst/>
            </a:prstGeom>
            <a:solidFill>
              <a:srgbClr val="FF0000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/>
            </a:p>
          </p:txBody>
        </p:sp>
        <p:cxnSp>
          <p:nvCxnSpPr>
            <p:cNvPr id="71" name="AutoShape 53"/>
            <p:cNvCxnSpPr>
              <a:cxnSpLocks noChangeShapeType="1"/>
              <a:endCxn id="68" idx="0"/>
            </p:cNvCxnSpPr>
            <p:nvPr/>
          </p:nvCxnSpPr>
          <p:spPr bwMode="auto">
            <a:xfrm rot="5400000">
              <a:off x="4991101" y="3270063"/>
              <a:ext cx="578037" cy="50183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2" name="AutoShape 54"/>
            <p:cNvCxnSpPr>
              <a:cxnSpLocks noChangeShapeType="1"/>
              <a:endCxn id="69" idx="0"/>
            </p:cNvCxnSpPr>
            <p:nvPr/>
          </p:nvCxnSpPr>
          <p:spPr bwMode="auto">
            <a:xfrm>
              <a:off x="5638800" y="3276600"/>
              <a:ext cx="0" cy="53340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73" name="AutoShape 53"/>
            <p:cNvCxnSpPr>
              <a:cxnSpLocks noChangeShapeType="1"/>
              <a:endCxn id="74" idx="1"/>
            </p:cNvCxnSpPr>
            <p:nvPr/>
          </p:nvCxnSpPr>
          <p:spPr bwMode="auto">
            <a:xfrm rot="16200000" flipH="1">
              <a:off x="5632263" y="3346263"/>
              <a:ext cx="622674" cy="39407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74" name="Oval 38"/>
            <p:cNvSpPr>
              <a:spLocks noChangeArrowheads="1"/>
            </p:cNvSpPr>
            <p:nvPr/>
          </p:nvSpPr>
          <p:spPr bwMode="auto">
            <a:xfrm>
              <a:off x="6096000" y="3810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 dirty="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257800" y="351686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latin typeface="Gill Sans MT"/>
                </a:rPr>
                <a:t>W</a:t>
              </a:r>
              <a:r>
                <a:rPr lang="en-US" baseline="-25000" dirty="0" err="1" smtClean="0">
                  <a:latin typeface="Gill Sans MT"/>
                </a:rPr>
                <a:t>i</a:t>
              </a:r>
              <a:endParaRPr lang="en-US" baseline="-25000" dirty="0">
                <a:latin typeface="Gill Sans MT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7479792" cy="466344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Find a number of m vertex-disjoint clusters</a:t>
            </a:r>
          </a:p>
          <a:p>
            <a:r>
              <a:rPr lang="en-US" sz="2000" dirty="0" smtClean="0"/>
              <a:t>Assign a Steiner star to each cluster</a:t>
            </a:r>
          </a:p>
          <a:p>
            <a:r>
              <a:rPr lang="en-US" sz="2000" dirty="0" smtClean="0"/>
              <a:t>Create a </a:t>
            </a:r>
            <a:r>
              <a:rPr lang="en-US" sz="2000" b="1" dirty="0" smtClean="0"/>
              <a:t>Quotient</a:t>
            </a:r>
            <a:r>
              <a:rPr lang="en-US" sz="2000" dirty="0" smtClean="0"/>
              <a:t> graph Q on the Steiner nodes</a:t>
            </a:r>
          </a:p>
          <a:p>
            <a:r>
              <a:rPr lang="en-US" sz="2000" dirty="0" smtClean="0"/>
              <a:t>Need bounded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Steiner Preconditioners</a:t>
            </a:r>
            <a:br>
              <a:rPr lang="en-US" sz="3200" dirty="0" smtClean="0"/>
            </a:br>
            <a:r>
              <a:rPr lang="en-US" sz="3200" dirty="0" smtClean="0"/>
              <a:t>Support graphs</a:t>
            </a:r>
            <a:endParaRPr lang="en-US" sz="3200" dirty="0"/>
          </a:p>
        </p:txBody>
      </p:sp>
      <p:sp>
        <p:nvSpPr>
          <p:cNvPr id="5" name="Oval 16"/>
          <p:cNvSpPr>
            <a:spLocks noChangeArrowheads="1"/>
          </p:cNvSpPr>
          <p:nvPr/>
        </p:nvSpPr>
        <p:spPr bwMode="auto">
          <a:xfrm>
            <a:off x="1981200" y="4497209"/>
            <a:ext cx="19050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Oval 16"/>
          <p:cNvSpPr>
            <a:spLocks noChangeArrowheads="1"/>
          </p:cNvSpPr>
          <p:nvPr/>
        </p:nvSpPr>
        <p:spPr bwMode="auto">
          <a:xfrm>
            <a:off x="4648200" y="4497209"/>
            <a:ext cx="1981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886200" y="3429000"/>
            <a:ext cx="609600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aseline="-25000" dirty="0" smtClean="0">
                <a:latin typeface="Gill Sans MT"/>
              </a:rPr>
              <a:t> </a:t>
            </a:r>
            <a:r>
              <a:rPr lang="en-US" sz="3200" baseline="-25000" dirty="0" smtClean="0">
                <a:latin typeface="Gill Sans MT"/>
              </a:rPr>
              <a:t>C</a:t>
            </a:r>
            <a:endParaRPr lang="en-US" sz="3200" baseline="-25000" dirty="0">
              <a:latin typeface="Gill Sans MT"/>
            </a:endParaRPr>
          </a:p>
        </p:txBody>
      </p:sp>
      <p:sp>
        <p:nvSpPr>
          <p:cNvPr id="38" name="Oval 36"/>
          <p:cNvSpPr>
            <a:spLocks noChangeArrowheads="1"/>
          </p:cNvSpPr>
          <p:nvPr/>
        </p:nvSpPr>
        <p:spPr bwMode="auto">
          <a:xfrm>
            <a:off x="2209800" y="4192409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endParaRPr lang="en-US" dirty="0"/>
          </a:p>
        </p:txBody>
      </p:sp>
      <p:sp>
        <p:nvSpPr>
          <p:cNvPr id="39" name="Oval 37"/>
          <p:cNvSpPr>
            <a:spLocks noChangeArrowheads="1"/>
          </p:cNvSpPr>
          <p:nvPr/>
        </p:nvSpPr>
        <p:spPr bwMode="auto">
          <a:xfrm>
            <a:off x="2819400" y="4192409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/>
              <a:t>i</a:t>
            </a:r>
          </a:p>
        </p:txBody>
      </p:sp>
      <p:sp>
        <p:nvSpPr>
          <p:cNvPr id="41" name="Oval 41"/>
          <p:cNvSpPr>
            <a:spLocks noChangeArrowheads="1"/>
          </p:cNvSpPr>
          <p:nvPr/>
        </p:nvSpPr>
        <p:spPr bwMode="auto">
          <a:xfrm>
            <a:off x="2819400" y="3354209"/>
            <a:ext cx="304800" cy="304800"/>
          </a:xfrm>
          <a:prstGeom prst="ellipse">
            <a:avLst/>
          </a:prstGeom>
          <a:solidFill>
            <a:srgbClr val="FF0000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endParaRPr lang="en-US"/>
          </a:p>
        </p:txBody>
      </p:sp>
      <p:cxnSp>
        <p:nvCxnSpPr>
          <p:cNvPr id="42" name="AutoShape 53"/>
          <p:cNvCxnSpPr>
            <a:cxnSpLocks noChangeShapeType="1"/>
            <a:endCxn id="38" idx="0"/>
          </p:cNvCxnSpPr>
          <p:nvPr/>
        </p:nvCxnSpPr>
        <p:spPr bwMode="auto">
          <a:xfrm rot="5400000">
            <a:off x="2324101" y="3652472"/>
            <a:ext cx="578037" cy="5018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45" name="AutoShape 53"/>
          <p:cNvCxnSpPr>
            <a:cxnSpLocks noChangeShapeType="1"/>
            <a:endCxn id="46" idx="1"/>
          </p:cNvCxnSpPr>
          <p:nvPr/>
        </p:nvCxnSpPr>
        <p:spPr bwMode="auto">
          <a:xfrm rot="16200000" flipH="1">
            <a:off x="2965263" y="3728672"/>
            <a:ext cx="622674" cy="394074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46" name="Oval 38"/>
          <p:cNvSpPr>
            <a:spLocks noChangeArrowheads="1"/>
          </p:cNvSpPr>
          <p:nvPr/>
        </p:nvSpPr>
        <p:spPr bwMode="auto">
          <a:xfrm>
            <a:off x="3429000" y="4192409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2590800" y="389927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Gill Sans MT"/>
              </a:rPr>
              <a:t>W</a:t>
            </a:r>
            <a:r>
              <a:rPr lang="en-US" baseline="-25000" dirty="0" err="1" smtClean="0">
                <a:latin typeface="Gill Sans MT"/>
              </a:rPr>
              <a:t>i</a:t>
            </a:r>
            <a:endParaRPr lang="en-US" baseline="-25000" dirty="0">
              <a:latin typeface="Gill Sans MT"/>
            </a:endParaRPr>
          </a:p>
        </p:txBody>
      </p:sp>
      <p:cxnSp>
        <p:nvCxnSpPr>
          <p:cNvPr id="79" name="AutoShape 53"/>
          <p:cNvCxnSpPr>
            <a:cxnSpLocks noChangeShapeType="1"/>
          </p:cNvCxnSpPr>
          <p:nvPr/>
        </p:nvCxnSpPr>
        <p:spPr bwMode="auto">
          <a:xfrm rot="10800000" flipV="1">
            <a:off x="2971800" y="4725807"/>
            <a:ext cx="2590802" cy="76201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85" name="AutoShape 53"/>
          <p:cNvCxnSpPr>
            <a:cxnSpLocks noChangeShapeType="1"/>
          </p:cNvCxnSpPr>
          <p:nvPr/>
        </p:nvCxnSpPr>
        <p:spPr bwMode="auto">
          <a:xfrm rot="10800000" flipV="1">
            <a:off x="2971800" y="4725809"/>
            <a:ext cx="2590802" cy="76201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86" name="AutoShape 53"/>
          <p:cNvCxnSpPr>
            <a:cxnSpLocks noChangeShapeType="1"/>
          </p:cNvCxnSpPr>
          <p:nvPr/>
        </p:nvCxnSpPr>
        <p:spPr bwMode="auto">
          <a:xfrm rot="10800000">
            <a:off x="3124200" y="3506609"/>
            <a:ext cx="2362200" cy="1588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87" name="AutoShape 54"/>
          <p:cNvCxnSpPr>
            <a:cxnSpLocks noChangeShapeType="1"/>
          </p:cNvCxnSpPr>
          <p:nvPr/>
        </p:nvCxnSpPr>
        <p:spPr bwMode="auto">
          <a:xfrm>
            <a:off x="2971800" y="3659009"/>
            <a:ext cx="0" cy="5334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88" name="AutoShape 54"/>
          <p:cNvCxnSpPr>
            <a:cxnSpLocks noChangeShapeType="1"/>
          </p:cNvCxnSpPr>
          <p:nvPr/>
        </p:nvCxnSpPr>
        <p:spPr bwMode="auto">
          <a:xfrm>
            <a:off x="5638800" y="3659009"/>
            <a:ext cx="0" cy="5334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</p:cxnSp>
      <p:sp>
        <p:nvSpPr>
          <p:cNvPr id="89" name="TextBox 88"/>
          <p:cNvSpPr txBox="1"/>
          <p:nvPr/>
        </p:nvSpPr>
        <p:spPr>
          <a:xfrm>
            <a:off x="3962400" y="4876800"/>
            <a:ext cx="533400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aseline="-25000" dirty="0" smtClean="0">
                <a:latin typeface="Gill Sans MT"/>
              </a:rPr>
              <a:t> </a:t>
            </a:r>
            <a:r>
              <a:rPr lang="en-US" sz="3200" baseline="-25000" dirty="0" smtClean="0">
                <a:latin typeface="Gill Sans MT"/>
              </a:rPr>
              <a:t>C</a:t>
            </a:r>
            <a:endParaRPr lang="en-US" sz="3200" baseline="-25000" dirty="0">
              <a:latin typeface="Gill Sans MT"/>
            </a:endParaRPr>
          </a:p>
        </p:txBody>
      </p:sp>
      <p:pic>
        <p:nvPicPr>
          <p:cNvPr id="35" name="Picture 34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3544067" y="2734296"/>
            <a:ext cx="1256533" cy="313704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Steiner Preconditioners</a:t>
            </a:r>
            <a:br>
              <a:rPr lang="en-US" sz="3200" dirty="0" smtClean="0"/>
            </a:br>
            <a:r>
              <a:rPr lang="en-US" sz="3200" dirty="0" smtClean="0"/>
              <a:t>Requirements for clustering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Each cluster </a:t>
            </a:r>
            <a:r>
              <a:rPr lang="en-US" sz="2400" b="1" dirty="0" smtClean="0"/>
              <a:t>must be</a:t>
            </a:r>
            <a:r>
              <a:rPr lang="en-US" sz="2400" dirty="0" smtClean="0"/>
              <a:t> an expander</a:t>
            </a:r>
          </a:p>
          <a:p>
            <a:endParaRPr lang="en-US" sz="2400" b="1" dirty="0" smtClean="0">
              <a:solidFill>
                <a:schemeClr val="accent6"/>
              </a:solidFill>
            </a:endParaRPr>
          </a:p>
          <a:p>
            <a:r>
              <a:rPr lang="en-US" sz="2400" b="1" dirty="0" smtClean="0">
                <a:solidFill>
                  <a:schemeClr val="accent6"/>
                </a:solidFill>
              </a:rPr>
              <a:t>Precondition property:</a:t>
            </a:r>
            <a:r>
              <a:rPr lang="en-US" sz="2400" dirty="0" smtClean="0"/>
              <a:t> a constant fraction of the weight for each vertex must be within its assigned cluster</a:t>
            </a:r>
          </a:p>
          <a:p>
            <a:endParaRPr lang="en-US" sz="2400" dirty="0" smtClean="0"/>
          </a:p>
          <a:p>
            <a:r>
              <a:rPr lang="en-US" sz="2400" dirty="0" smtClean="0"/>
              <a:t>One </a:t>
            </a:r>
            <a:r>
              <a:rPr lang="en-US" sz="2400" b="1" dirty="0" smtClean="0">
                <a:solidFill>
                  <a:schemeClr val="accent6"/>
                </a:solidFill>
              </a:rPr>
              <a:t>exceptional heaviest vertex</a:t>
            </a:r>
            <a:r>
              <a:rPr lang="en-US" sz="2400" dirty="0" smtClean="0"/>
              <a:t> per cluster</a:t>
            </a:r>
          </a:p>
        </p:txBody>
      </p:sp>
      <p:cxnSp>
        <p:nvCxnSpPr>
          <p:cNvPr id="26" name="AutoShape 53"/>
          <p:cNvCxnSpPr>
            <a:cxnSpLocks noChangeShapeType="1"/>
            <a:endCxn id="44" idx="6"/>
          </p:cNvCxnSpPr>
          <p:nvPr/>
        </p:nvCxnSpPr>
        <p:spPr bwMode="auto">
          <a:xfrm rot="10800000">
            <a:off x="2590800" y="1828800"/>
            <a:ext cx="2362200" cy="158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7" name="AutoShape 54"/>
          <p:cNvCxnSpPr>
            <a:cxnSpLocks noChangeShapeType="1"/>
            <a:endCxn id="43" idx="0"/>
          </p:cNvCxnSpPr>
          <p:nvPr/>
        </p:nvCxnSpPr>
        <p:spPr bwMode="auto">
          <a:xfrm>
            <a:off x="2438400" y="1981200"/>
            <a:ext cx="0" cy="533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grpSp>
        <p:nvGrpSpPr>
          <p:cNvPr id="28" name="Group 27"/>
          <p:cNvGrpSpPr/>
          <p:nvPr/>
        </p:nvGrpSpPr>
        <p:grpSpPr>
          <a:xfrm>
            <a:off x="4343400" y="1676400"/>
            <a:ext cx="1524000" cy="1143000"/>
            <a:chOff x="4876800" y="2971800"/>
            <a:chExt cx="1524000" cy="1143000"/>
          </a:xfrm>
        </p:grpSpPr>
        <p:sp>
          <p:nvSpPr>
            <p:cNvPr id="29" name="Oval 36"/>
            <p:cNvSpPr>
              <a:spLocks noChangeArrowheads="1"/>
            </p:cNvSpPr>
            <p:nvPr/>
          </p:nvSpPr>
          <p:spPr bwMode="auto">
            <a:xfrm>
              <a:off x="4876800" y="3810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 dirty="0"/>
            </a:p>
          </p:txBody>
        </p:sp>
        <p:sp>
          <p:nvSpPr>
            <p:cNvPr id="30" name="Oval 37"/>
            <p:cNvSpPr>
              <a:spLocks noChangeArrowheads="1"/>
            </p:cNvSpPr>
            <p:nvPr/>
          </p:nvSpPr>
          <p:spPr bwMode="auto">
            <a:xfrm>
              <a:off x="5486400" y="3810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r>
                <a:rPr lang="en-US" dirty="0" smtClean="0"/>
                <a:t>j</a:t>
              </a:r>
              <a:endParaRPr lang="en-US" dirty="0"/>
            </a:p>
          </p:txBody>
        </p:sp>
        <p:sp>
          <p:nvSpPr>
            <p:cNvPr id="31" name="Oval 41"/>
            <p:cNvSpPr>
              <a:spLocks noChangeArrowheads="1"/>
            </p:cNvSpPr>
            <p:nvPr/>
          </p:nvSpPr>
          <p:spPr bwMode="auto">
            <a:xfrm>
              <a:off x="5486400" y="2971800"/>
              <a:ext cx="304800" cy="304800"/>
            </a:xfrm>
            <a:prstGeom prst="ellipse">
              <a:avLst/>
            </a:prstGeom>
            <a:solidFill>
              <a:srgbClr val="FF0000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/>
            </a:p>
          </p:txBody>
        </p:sp>
        <p:cxnSp>
          <p:nvCxnSpPr>
            <p:cNvPr id="32" name="AutoShape 53"/>
            <p:cNvCxnSpPr>
              <a:cxnSpLocks noChangeShapeType="1"/>
              <a:endCxn id="29" idx="0"/>
            </p:cNvCxnSpPr>
            <p:nvPr/>
          </p:nvCxnSpPr>
          <p:spPr bwMode="auto">
            <a:xfrm rot="5400000">
              <a:off x="4991101" y="3270063"/>
              <a:ext cx="578037" cy="50183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3" name="AutoShape 54"/>
            <p:cNvCxnSpPr>
              <a:cxnSpLocks noChangeShapeType="1"/>
              <a:endCxn id="30" idx="0"/>
            </p:cNvCxnSpPr>
            <p:nvPr/>
          </p:nvCxnSpPr>
          <p:spPr bwMode="auto">
            <a:xfrm>
              <a:off x="5638800" y="3276600"/>
              <a:ext cx="0" cy="53340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34" name="AutoShape 53"/>
            <p:cNvCxnSpPr>
              <a:cxnSpLocks noChangeShapeType="1"/>
              <a:endCxn id="35" idx="1"/>
            </p:cNvCxnSpPr>
            <p:nvPr/>
          </p:nvCxnSpPr>
          <p:spPr bwMode="auto">
            <a:xfrm rot="16200000" flipH="1">
              <a:off x="5632263" y="3346263"/>
              <a:ext cx="622674" cy="39407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6096000" y="38100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marL="342900" indent="-342900"/>
              <a:endParaRPr lang="en-US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257800" y="351686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latin typeface="Gill Sans MT"/>
                </a:rPr>
                <a:t>W</a:t>
              </a:r>
              <a:r>
                <a:rPr lang="en-US" baseline="-25000" dirty="0" err="1" smtClean="0">
                  <a:latin typeface="Gill Sans MT"/>
                </a:rPr>
                <a:t>i</a:t>
              </a:r>
              <a:endParaRPr lang="en-US" baseline="-25000" dirty="0">
                <a:latin typeface="Gill Sans MT"/>
              </a:endParaRPr>
            </a:p>
          </p:txBody>
        </p:sp>
      </p:grpSp>
      <p:sp>
        <p:nvSpPr>
          <p:cNvPr id="37" name="Oval 16"/>
          <p:cNvSpPr>
            <a:spLocks noChangeArrowheads="1"/>
          </p:cNvSpPr>
          <p:nvPr/>
        </p:nvSpPr>
        <p:spPr bwMode="auto">
          <a:xfrm>
            <a:off x="1447800" y="2819400"/>
            <a:ext cx="19050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Oval 16"/>
          <p:cNvSpPr>
            <a:spLocks noChangeArrowheads="1"/>
          </p:cNvSpPr>
          <p:nvPr/>
        </p:nvSpPr>
        <p:spPr bwMode="auto">
          <a:xfrm>
            <a:off x="4114800" y="2819400"/>
            <a:ext cx="1981200" cy="4572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3429000" y="1752600"/>
            <a:ext cx="762000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aseline="-25000" dirty="0" smtClean="0">
                <a:latin typeface="Gill Sans MT"/>
              </a:rPr>
              <a:t> </a:t>
            </a:r>
            <a:r>
              <a:rPr lang="en-US" sz="3200" baseline="-25000" dirty="0" smtClean="0">
                <a:latin typeface="Gill Sans MT"/>
              </a:rPr>
              <a:t>C</a:t>
            </a:r>
            <a:endParaRPr lang="en-US" sz="3200" baseline="-25000" dirty="0">
              <a:latin typeface="Gill Sans MT"/>
            </a:endParaRPr>
          </a:p>
        </p:txBody>
      </p:sp>
      <p:sp>
        <p:nvSpPr>
          <p:cNvPr id="42" name="Oval 36"/>
          <p:cNvSpPr>
            <a:spLocks noChangeArrowheads="1"/>
          </p:cNvSpPr>
          <p:nvPr/>
        </p:nvSpPr>
        <p:spPr bwMode="auto">
          <a:xfrm>
            <a:off x="1676400" y="25146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endParaRPr lang="en-US" dirty="0"/>
          </a:p>
        </p:txBody>
      </p:sp>
      <p:sp>
        <p:nvSpPr>
          <p:cNvPr id="43" name="Oval 37"/>
          <p:cNvSpPr>
            <a:spLocks noChangeArrowheads="1"/>
          </p:cNvSpPr>
          <p:nvPr/>
        </p:nvSpPr>
        <p:spPr bwMode="auto">
          <a:xfrm>
            <a:off x="2286000" y="25146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r>
              <a:rPr lang="en-US"/>
              <a:t>i</a:t>
            </a:r>
          </a:p>
        </p:txBody>
      </p:sp>
      <p:sp>
        <p:nvSpPr>
          <p:cNvPr id="44" name="Oval 41"/>
          <p:cNvSpPr>
            <a:spLocks noChangeArrowheads="1"/>
          </p:cNvSpPr>
          <p:nvPr/>
        </p:nvSpPr>
        <p:spPr bwMode="auto">
          <a:xfrm>
            <a:off x="2286000" y="1676400"/>
            <a:ext cx="304800" cy="304800"/>
          </a:xfrm>
          <a:prstGeom prst="ellipse">
            <a:avLst/>
          </a:prstGeom>
          <a:solidFill>
            <a:srgbClr val="FF0000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endParaRPr lang="en-US"/>
          </a:p>
        </p:txBody>
      </p:sp>
      <p:cxnSp>
        <p:nvCxnSpPr>
          <p:cNvPr id="45" name="AutoShape 53"/>
          <p:cNvCxnSpPr>
            <a:cxnSpLocks noChangeShapeType="1"/>
            <a:endCxn id="42" idx="0"/>
          </p:cNvCxnSpPr>
          <p:nvPr/>
        </p:nvCxnSpPr>
        <p:spPr bwMode="auto">
          <a:xfrm rot="5400000">
            <a:off x="1790701" y="1974663"/>
            <a:ext cx="578037" cy="5018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46" name="AutoShape 53"/>
          <p:cNvCxnSpPr>
            <a:cxnSpLocks noChangeShapeType="1"/>
            <a:endCxn id="47" idx="1"/>
          </p:cNvCxnSpPr>
          <p:nvPr/>
        </p:nvCxnSpPr>
        <p:spPr bwMode="auto">
          <a:xfrm rot="16200000" flipH="1">
            <a:off x="2431863" y="2050863"/>
            <a:ext cx="622674" cy="394074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47" name="Oval 38"/>
          <p:cNvSpPr>
            <a:spLocks noChangeArrowheads="1"/>
          </p:cNvSpPr>
          <p:nvPr/>
        </p:nvSpPr>
        <p:spPr bwMode="auto">
          <a:xfrm>
            <a:off x="2895600" y="25146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marL="342900" indent="-342900"/>
            <a:endParaRPr lang="en-US" dirty="0"/>
          </a:p>
        </p:txBody>
      </p:sp>
      <p:cxnSp>
        <p:nvCxnSpPr>
          <p:cNvPr id="49" name="AutoShape 53"/>
          <p:cNvCxnSpPr>
            <a:cxnSpLocks noChangeShapeType="1"/>
          </p:cNvCxnSpPr>
          <p:nvPr/>
        </p:nvCxnSpPr>
        <p:spPr bwMode="auto">
          <a:xfrm rot="10800000" flipV="1">
            <a:off x="2438400" y="3047998"/>
            <a:ext cx="2590802" cy="76201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50" name="AutoShape 53"/>
          <p:cNvCxnSpPr>
            <a:cxnSpLocks noChangeShapeType="1"/>
          </p:cNvCxnSpPr>
          <p:nvPr/>
        </p:nvCxnSpPr>
        <p:spPr bwMode="auto">
          <a:xfrm rot="10800000" flipV="1">
            <a:off x="2438400" y="3048000"/>
            <a:ext cx="2590802" cy="76201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51" name="AutoShape 53"/>
          <p:cNvCxnSpPr>
            <a:cxnSpLocks noChangeShapeType="1"/>
          </p:cNvCxnSpPr>
          <p:nvPr/>
        </p:nvCxnSpPr>
        <p:spPr bwMode="auto">
          <a:xfrm rot="10800000">
            <a:off x="2590800" y="1828800"/>
            <a:ext cx="2362200" cy="1588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52" name="AutoShape 54"/>
          <p:cNvCxnSpPr>
            <a:cxnSpLocks noChangeShapeType="1"/>
          </p:cNvCxnSpPr>
          <p:nvPr/>
        </p:nvCxnSpPr>
        <p:spPr bwMode="auto">
          <a:xfrm>
            <a:off x="2438400" y="1981200"/>
            <a:ext cx="0" cy="5334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</p:cxnSp>
      <p:cxnSp>
        <p:nvCxnSpPr>
          <p:cNvPr id="53" name="AutoShape 54"/>
          <p:cNvCxnSpPr>
            <a:cxnSpLocks noChangeShapeType="1"/>
          </p:cNvCxnSpPr>
          <p:nvPr/>
        </p:nvCxnSpPr>
        <p:spPr bwMode="auto">
          <a:xfrm>
            <a:off x="5105400" y="1981200"/>
            <a:ext cx="0" cy="533400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3429000" y="3198991"/>
            <a:ext cx="533400" cy="420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aseline="-25000" dirty="0" smtClean="0">
                <a:latin typeface="Gill Sans MT"/>
              </a:rPr>
              <a:t> </a:t>
            </a:r>
            <a:r>
              <a:rPr lang="en-US" sz="3200" baseline="-25000" dirty="0" smtClean="0">
                <a:latin typeface="Gill Sans MT"/>
              </a:rPr>
              <a:t>C</a:t>
            </a:r>
            <a:endParaRPr lang="en-US" sz="3200" baseline="-25000" dirty="0">
              <a:latin typeface="Gill Sans M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15000" y="1371600"/>
            <a:ext cx="3276600" cy="1200329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47625">
            <a:solidFill>
              <a:schemeClr val="accent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Necessary and sufficient requirements for a clustering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Outline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Preconditioners in Computer Science</a:t>
            </a:r>
          </a:p>
          <a:p>
            <a:r>
              <a:rPr lang="en-US" sz="2400" dirty="0" smtClean="0"/>
              <a:t>Combinatorial Subgraph preconditioners</a:t>
            </a:r>
          </a:p>
          <a:p>
            <a:r>
              <a:rPr lang="en-US" sz="2400" dirty="0" smtClean="0"/>
              <a:t>Combinatorial Steiner preconditioners</a:t>
            </a:r>
          </a:p>
          <a:p>
            <a:r>
              <a:rPr lang="en-US" sz="2400" b="1" dirty="0" smtClean="0"/>
              <a:t>The Combinatorial Multigrid Solver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Steiner Preconditioners</a:t>
            </a:r>
            <a:br>
              <a:rPr lang="en-US" sz="3200" dirty="0" smtClean="0"/>
            </a:br>
            <a:r>
              <a:rPr lang="en-US" sz="3200" dirty="0" smtClean="0"/>
              <a:t>An algebraic view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Vertex-Cluster incidence matrix R</a:t>
            </a:r>
          </a:p>
          <a:p>
            <a:r>
              <a:rPr lang="en-US" sz="2400" dirty="0" smtClean="0"/>
              <a:t>R(</a:t>
            </a:r>
            <a:r>
              <a:rPr lang="en-US" sz="2400" dirty="0" err="1" smtClean="0"/>
              <a:t>i,j</a:t>
            </a:r>
            <a:r>
              <a:rPr lang="en-US" sz="2400" dirty="0" smtClean="0"/>
              <a:t>)=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sz="2400" dirty="0" smtClean="0"/>
              <a:t> if vertex </a:t>
            </a:r>
            <a:r>
              <a:rPr lang="en-US" sz="2400" dirty="0" err="1" smtClean="0"/>
              <a:t>i</a:t>
            </a:r>
            <a:r>
              <a:rPr lang="en-US" sz="2400" dirty="0" smtClean="0"/>
              <a:t> is in cluster j, </a:t>
            </a:r>
            <a:r>
              <a:rPr lang="en-US" sz="2400" smtClean="0"/>
              <a:t>0 otherwise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Quotient graph </a:t>
            </a:r>
          </a:p>
          <a:p>
            <a:r>
              <a:rPr lang="en-US" sz="2400" dirty="0" smtClean="0"/>
              <a:t>Known as </a:t>
            </a:r>
            <a:r>
              <a:rPr lang="en-US" sz="2400" dirty="0" err="1" smtClean="0"/>
              <a:t>Galerkin</a:t>
            </a:r>
            <a:r>
              <a:rPr lang="en-US" sz="2400" dirty="0" smtClean="0"/>
              <a:t> condition in multigrid 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We solve the system</a:t>
            </a:r>
          </a:p>
          <a:p>
            <a:endParaRPr lang="en-US" sz="2400" dirty="0" smtClean="0"/>
          </a:p>
          <a:p>
            <a:r>
              <a:rPr lang="en-US" sz="2400" dirty="0" smtClean="0"/>
              <a:t>From this we have  </a:t>
            </a:r>
            <a:endParaRPr lang="en-US" sz="2400" dirty="0"/>
          </a:p>
        </p:txBody>
      </p:sp>
      <p:pic>
        <p:nvPicPr>
          <p:cNvPr id="5" name="Picture 4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/>
          <a:stretch>
            <a:fillRect/>
          </a:stretch>
        </p:blipFill>
        <p:spPr bwMode="auto">
          <a:xfrm>
            <a:off x="3962400" y="2667000"/>
            <a:ext cx="2057400" cy="398334"/>
          </a:xfrm>
          <a:prstGeom prst="rect">
            <a:avLst/>
          </a:prstGeom>
          <a:noFill/>
          <a:ln/>
          <a:effectLst/>
        </p:spPr>
      </p:pic>
      <p:pic>
        <p:nvPicPr>
          <p:cNvPr id="6" name="Picture 5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/>
          <a:stretch>
            <a:fillRect/>
          </a:stretch>
        </p:blipFill>
        <p:spPr bwMode="auto">
          <a:xfrm>
            <a:off x="4572000" y="4628061"/>
            <a:ext cx="1835834" cy="553539"/>
          </a:xfrm>
          <a:prstGeom prst="rect">
            <a:avLst/>
          </a:prstGeom>
          <a:noFill/>
          <a:ln/>
          <a:effectLst/>
        </p:spPr>
      </p:pic>
      <p:pic>
        <p:nvPicPr>
          <p:cNvPr id="28" name="Picture 27" descr="TP_tmp.em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/>
          <a:stretch>
            <a:fillRect/>
          </a:stretch>
        </p:blipFill>
        <p:spPr bwMode="auto">
          <a:xfrm>
            <a:off x="4254363" y="5503217"/>
            <a:ext cx="2908437" cy="364183"/>
          </a:xfrm>
          <a:prstGeom prst="rect">
            <a:avLst/>
          </a:prstGeom>
          <a:noFill/>
          <a:ln/>
          <a:effectLst/>
        </p:spPr>
      </p:pic>
      <p:grpSp>
        <p:nvGrpSpPr>
          <p:cNvPr id="33" name="Group 32"/>
          <p:cNvGrpSpPr/>
          <p:nvPr/>
        </p:nvGrpSpPr>
        <p:grpSpPr>
          <a:xfrm>
            <a:off x="2708696" y="3657600"/>
            <a:ext cx="2318948" cy="941388"/>
            <a:chOff x="4786313" y="2514600"/>
            <a:chExt cx="3443287" cy="1703388"/>
          </a:xfrm>
        </p:grpSpPr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5410200" y="2667000"/>
              <a:ext cx="304800" cy="304800"/>
            </a:xfrm>
            <a:prstGeom prst="ellipse">
              <a:avLst/>
            </a:prstGeom>
            <a:solidFill>
              <a:srgbClr val="FF0000"/>
            </a:solidFill>
            <a:ln w="1587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4800600" y="3581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12700" algn="ctr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5410200" y="3581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12700" algn="ctr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6019800" y="3581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12700" algn="ctr">
              <a:solidFill>
                <a:srgbClr val="0070C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13" name="Straight Connector 12"/>
            <p:cNvCxnSpPr>
              <a:cxnSpLocks noChangeShapeType="1"/>
              <a:stCxn id="9" idx="3"/>
            </p:cNvCxnSpPr>
            <p:nvPr/>
          </p:nvCxnSpPr>
          <p:spPr bwMode="auto">
            <a:xfrm rot="5400000">
              <a:off x="4892675" y="3032125"/>
              <a:ext cx="666750" cy="457200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14" name="Picture 13" descr="TP_tmp.emf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4786313" y="4011613"/>
              <a:ext cx="230187" cy="179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14" descr="TP_tmp.emf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5397500" y="4038600"/>
              <a:ext cx="255588" cy="179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6" name="Straight Connector 15"/>
            <p:cNvCxnSpPr>
              <a:cxnSpLocks noChangeShapeType="1"/>
              <a:stCxn id="9" idx="4"/>
              <a:endCxn id="11" idx="0"/>
            </p:cNvCxnSpPr>
            <p:nvPr/>
          </p:nvCxnSpPr>
          <p:spPr bwMode="auto">
            <a:xfrm rot="5400000">
              <a:off x="5257801" y="3276600"/>
              <a:ext cx="609600" cy="3175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7" name="Straight Connector 16"/>
            <p:cNvCxnSpPr>
              <a:cxnSpLocks noChangeShapeType="1"/>
              <a:stCxn id="9" idx="5"/>
              <a:endCxn id="12" idx="1"/>
            </p:cNvCxnSpPr>
            <p:nvPr/>
          </p:nvCxnSpPr>
          <p:spPr bwMode="auto">
            <a:xfrm rot="16200000" flipH="1">
              <a:off x="5518150" y="3079750"/>
              <a:ext cx="698500" cy="393700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</p:spPr>
        </p:cxnSp>
        <p:pic>
          <p:nvPicPr>
            <p:cNvPr id="18" name="Picture 17" descr="TP_tmp.emf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6" cstate="print"/>
            <a:srcRect/>
            <a:stretch>
              <a:fillRect/>
            </a:stretch>
          </p:blipFill>
          <p:spPr bwMode="auto">
            <a:xfrm>
              <a:off x="6019800" y="4011613"/>
              <a:ext cx="257175" cy="179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Oval 18"/>
            <p:cNvSpPr>
              <a:spLocks noChangeArrowheads="1"/>
            </p:cNvSpPr>
            <p:nvPr/>
          </p:nvSpPr>
          <p:spPr bwMode="auto">
            <a:xfrm>
              <a:off x="7543800" y="2667000"/>
              <a:ext cx="304800" cy="304800"/>
            </a:xfrm>
            <a:prstGeom prst="ellipse">
              <a:avLst/>
            </a:prstGeom>
            <a:solidFill>
              <a:srgbClr val="FF0000"/>
            </a:solidFill>
            <a:ln w="1587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19"/>
            <p:cNvSpPr>
              <a:spLocks noChangeArrowheads="1"/>
            </p:cNvSpPr>
            <p:nvPr/>
          </p:nvSpPr>
          <p:spPr bwMode="auto">
            <a:xfrm>
              <a:off x="7162800" y="3581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12700" algn="ctr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7924800" y="3581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w="12700" algn="ctr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22" name="Picture 21" descr="TP_tmp.emf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7072313" y="4038600"/>
              <a:ext cx="255587" cy="179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3" name="Picture 22" descr="TP_tmp.emf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8" cstate="print"/>
            <a:srcRect/>
            <a:stretch>
              <a:fillRect/>
            </a:stretch>
          </p:blipFill>
          <p:spPr bwMode="auto">
            <a:xfrm>
              <a:off x="7924800" y="4038600"/>
              <a:ext cx="257175" cy="179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24" name="Straight Connector 23"/>
            <p:cNvCxnSpPr>
              <a:cxnSpLocks noChangeShapeType="1"/>
              <a:stCxn id="19" idx="3"/>
              <a:endCxn id="20" idx="0"/>
            </p:cNvCxnSpPr>
            <p:nvPr/>
          </p:nvCxnSpPr>
          <p:spPr bwMode="auto">
            <a:xfrm rot="5400000">
              <a:off x="7124700" y="3117850"/>
              <a:ext cx="654050" cy="273050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5" name="Straight Connector 24"/>
            <p:cNvCxnSpPr>
              <a:cxnSpLocks noChangeShapeType="1"/>
              <a:stCxn id="19" idx="5"/>
              <a:endCxn id="21" idx="0"/>
            </p:cNvCxnSpPr>
            <p:nvPr/>
          </p:nvCxnSpPr>
          <p:spPr bwMode="auto">
            <a:xfrm rot="16200000" flipH="1">
              <a:off x="7613650" y="3117850"/>
              <a:ext cx="654050" cy="273050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27" name="TextBox 26"/>
            <p:cNvSpPr txBox="1">
              <a:spLocks noChangeArrowheads="1"/>
            </p:cNvSpPr>
            <p:nvPr/>
          </p:nvSpPr>
          <p:spPr bwMode="auto">
            <a:xfrm>
              <a:off x="5181601" y="3124200"/>
              <a:ext cx="457200" cy="5569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en-US" sz="1400" dirty="0"/>
            </a:p>
          </p:txBody>
        </p:sp>
        <p:cxnSp>
          <p:nvCxnSpPr>
            <p:cNvPr id="31" name="Straight Connector 30"/>
            <p:cNvCxnSpPr>
              <a:cxnSpLocks noChangeShapeType="1"/>
              <a:stCxn id="9" idx="6"/>
              <a:endCxn id="19" idx="2"/>
            </p:cNvCxnSpPr>
            <p:nvPr/>
          </p:nvCxnSpPr>
          <p:spPr bwMode="auto">
            <a:xfrm>
              <a:off x="5715000" y="2819400"/>
              <a:ext cx="1828800" cy="1588"/>
            </a:xfrm>
            <a:prstGeom prst="line">
              <a:avLst/>
            </a:prstGeom>
            <a:noFill/>
            <a:ln w="25400" algn="ctr">
              <a:solidFill>
                <a:srgbClr val="002060"/>
              </a:solidFill>
              <a:round/>
              <a:headEnd/>
              <a:tailEnd/>
            </a:ln>
          </p:spPr>
        </p:cxnSp>
        <p:sp>
          <p:nvSpPr>
            <p:cNvPr id="32" name="TextBox 31"/>
            <p:cNvSpPr txBox="1">
              <a:spLocks noChangeArrowheads="1"/>
            </p:cNvSpPr>
            <p:nvPr/>
          </p:nvSpPr>
          <p:spPr bwMode="auto">
            <a:xfrm>
              <a:off x="6400800" y="2514600"/>
              <a:ext cx="457200" cy="5569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en-US" sz="1400" dirty="0"/>
            </a:p>
          </p:txBody>
        </p:sp>
      </p:grpSp>
      <p:sp>
        <p:nvSpPr>
          <p:cNvPr id="30" name="Oval 29"/>
          <p:cNvSpPr>
            <a:spLocks noChangeArrowheads="1"/>
          </p:cNvSpPr>
          <p:nvPr/>
        </p:nvSpPr>
        <p:spPr bwMode="auto">
          <a:xfrm>
            <a:off x="4191000" y="5410200"/>
            <a:ext cx="3124200" cy="533400"/>
          </a:xfrm>
          <a:prstGeom prst="ellipse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Steiner Preconditioners</a:t>
            </a:r>
            <a:br>
              <a:rPr lang="en-US" sz="3200" dirty="0" smtClean="0"/>
            </a:br>
            <a:r>
              <a:rPr lang="en-US" sz="3200" dirty="0" smtClean="0"/>
              <a:t>The multigrid connection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The basic AMG ingredients </a:t>
            </a:r>
          </a:p>
          <a:p>
            <a:r>
              <a:rPr lang="en-US" sz="2400" dirty="0" smtClean="0"/>
              <a:t>Smoother S, </a:t>
            </a:r>
          </a:p>
          <a:p>
            <a:r>
              <a:rPr lang="en-US" sz="2400" dirty="0" err="1" smtClean="0"/>
              <a:t>nxm</a:t>
            </a:r>
            <a:r>
              <a:rPr lang="en-US" sz="2400" dirty="0" smtClean="0"/>
              <a:t> Projection operator P</a:t>
            </a:r>
          </a:p>
          <a:p>
            <a:r>
              <a:rPr lang="en-US" sz="2400" dirty="0" err="1" smtClean="0"/>
              <a:t>Galerkin</a:t>
            </a:r>
            <a:r>
              <a:rPr lang="en-US" sz="2400" dirty="0" smtClean="0"/>
              <a:t> condition constructs Q from P and A</a:t>
            </a:r>
          </a:p>
          <a:p>
            <a:r>
              <a:rPr lang="en-US" sz="2400" dirty="0" smtClean="0"/>
              <a:t>Two-level method is described by error-reduction operator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Convergence proofs are based on assumptions for the angle between the low frequencies of S and Range(P)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</p:txBody>
      </p:sp>
      <p:pic>
        <p:nvPicPr>
          <p:cNvPr id="5" name="Picture 4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3331358" y="4419600"/>
            <a:ext cx="3076872" cy="335719"/>
          </a:xfrm>
          <a:prstGeom prst="rect">
            <a:avLst/>
          </a:prstGeom>
          <a:noFill/>
          <a:ln/>
          <a:effectLst/>
        </p:spPr>
      </p:pic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3048000" y="4191000"/>
            <a:ext cx="3962400" cy="685800"/>
          </a:xfrm>
          <a:prstGeom prst="ellipse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Steiner Preconditioners</a:t>
            </a:r>
            <a:br>
              <a:rPr lang="en-US" sz="3200" dirty="0" smtClean="0"/>
            </a:br>
            <a:r>
              <a:rPr lang="en-US" sz="3200" dirty="0" smtClean="0"/>
              <a:t>The multigrid connection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dirty="0" smtClean="0"/>
              <a:t>Closed form for the Schur complement of the Steiner graph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The normalized Laplacian </a:t>
            </a:r>
          </a:p>
          <a:p>
            <a:pPr>
              <a:buNone/>
            </a:pPr>
            <a:r>
              <a:rPr lang="en-US" sz="2000" dirty="0" smtClean="0"/>
              <a:t>The normalized Schur complement</a:t>
            </a:r>
          </a:p>
          <a:p>
            <a:pPr>
              <a:buNone/>
            </a:pPr>
            <a:endParaRPr lang="en-US" sz="2000" dirty="0" smtClean="0"/>
          </a:p>
          <a:p>
            <a:endParaRPr lang="en-US" sz="2400" dirty="0" smtClean="0"/>
          </a:p>
          <a:p>
            <a:r>
              <a:rPr lang="en-US" sz="2000" dirty="0" smtClean="0"/>
              <a:t>We know</a:t>
            </a:r>
            <a:r>
              <a:rPr lang="en-US" sz="2400" dirty="0" smtClean="0"/>
              <a:t> 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r>
              <a:rPr lang="en-US" sz="2000" dirty="0" smtClean="0"/>
              <a:t>The two matrices are spectrally close</a:t>
            </a:r>
            <a:endParaRPr lang="en-US" sz="2400" dirty="0" smtClean="0"/>
          </a:p>
          <a:p>
            <a:r>
              <a:rPr lang="en-US" sz="2000" dirty="0" smtClean="0"/>
              <a:t>Low frequency of       close to</a:t>
            </a:r>
          </a:p>
          <a:p>
            <a:r>
              <a:rPr lang="en-US" sz="2000" dirty="0" smtClean="0"/>
              <a:t>Easy to derive exact bounds 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</p:txBody>
      </p:sp>
      <p:pic>
        <p:nvPicPr>
          <p:cNvPr id="21" name="Picture 20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/>
          <a:stretch>
            <a:fillRect/>
          </a:stretch>
        </p:blipFill>
        <p:spPr bwMode="auto">
          <a:xfrm>
            <a:off x="3200400" y="1981200"/>
            <a:ext cx="3273273" cy="335720"/>
          </a:xfrm>
          <a:prstGeom prst="rect">
            <a:avLst/>
          </a:prstGeom>
          <a:noFill/>
          <a:ln/>
          <a:effectLst/>
        </p:spPr>
      </p:pic>
      <p:pic>
        <p:nvPicPr>
          <p:cNvPr id="11" name="Picture 10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/>
          <a:stretch>
            <a:fillRect/>
          </a:stretch>
        </p:blipFill>
        <p:spPr bwMode="auto">
          <a:xfrm>
            <a:off x="3048000" y="3902948"/>
            <a:ext cx="2741127" cy="364252"/>
          </a:xfrm>
          <a:prstGeom prst="rect">
            <a:avLst/>
          </a:prstGeom>
          <a:noFill/>
          <a:ln/>
          <a:effectLst/>
        </p:spPr>
      </p:pic>
      <p:pic>
        <p:nvPicPr>
          <p:cNvPr id="19" name="Picture 18" descr="TP_tmp.em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/>
          <a:stretch>
            <a:fillRect/>
          </a:stretch>
        </p:blipFill>
        <p:spPr bwMode="auto">
          <a:xfrm>
            <a:off x="3733800" y="5410200"/>
            <a:ext cx="203387" cy="255381"/>
          </a:xfrm>
          <a:prstGeom prst="rect">
            <a:avLst/>
          </a:prstGeom>
          <a:noFill/>
          <a:ln/>
          <a:effectLst/>
        </p:spPr>
      </p:pic>
      <p:pic>
        <p:nvPicPr>
          <p:cNvPr id="14" name="Picture 13" descr="TP_tmp.emf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/>
          <a:stretch>
            <a:fillRect/>
          </a:stretch>
        </p:blipFill>
        <p:spPr bwMode="auto">
          <a:xfrm>
            <a:off x="4953000" y="5410200"/>
            <a:ext cx="1859236" cy="341043"/>
          </a:xfrm>
          <a:prstGeom prst="rect">
            <a:avLst/>
          </a:prstGeom>
          <a:noFill/>
          <a:ln/>
          <a:effectLst/>
        </p:spPr>
      </p:pic>
      <p:pic>
        <p:nvPicPr>
          <p:cNvPr id="20" name="Picture 19" descr="TP_tmp.emf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/>
          <a:stretch>
            <a:fillRect/>
          </a:stretch>
        </p:blipFill>
        <p:spPr bwMode="auto">
          <a:xfrm>
            <a:off x="4343400" y="2514600"/>
            <a:ext cx="2056908" cy="248375"/>
          </a:xfrm>
          <a:prstGeom prst="rect">
            <a:avLst/>
          </a:prstGeom>
          <a:noFill/>
          <a:ln/>
          <a:effectLst/>
        </p:spPr>
      </p:pic>
      <p:pic>
        <p:nvPicPr>
          <p:cNvPr id="12" name="Picture 11" descr="TP_tmp.emf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/>
          <a:stretch>
            <a:fillRect/>
          </a:stretch>
        </p:blipFill>
        <p:spPr bwMode="auto">
          <a:xfrm>
            <a:off x="5194237" y="2895600"/>
            <a:ext cx="2056420" cy="248316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The Combinatorial Multigrid Solver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Two-level proofs follow</a:t>
            </a:r>
          </a:p>
          <a:p>
            <a:r>
              <a:rPr lang="en-US" sz="2000" dirty="0" smtClean="0"/>
              <a:t>Theory of Support Trees gives insights                                          and proofs for the full multilevel behavior</a:t>
            </a:r>
          </a:p>
          <a:p>
            <a:r>
              <a:rPr lang="en-US" sz="2000" dirty="0" smtClean="0"/>
              <a:t>3D convergence properties better than 2D </a:t>
            </a:r>
            <a:endParaRPr lang="en-US" sz="2000" dirty="0"/>
          </a:p>
        </p:txBody>
      </p:sp>
      <p:pic>
        <p:nvPicPr>
          <p:cNvPr id="4" name="Picture 3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1520237" y="1828800"/>
            <a:ext cx="7318963" cy="378146"/>
          </a:xfrm>
          <a:prstGeom prst="rect">
            <a:avLst/>
          </a:prstGeom>
          <a:noFill/>
          <a:ln w="349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743200" y="4724400"/>
            <a:ext cx="4724400" cy="1200329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47625">
            <a:solidFill>
              <a:schemeClr val="accent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two-level method derived via a preconditioning technique</a:t>
            </a:r>
          </a:p>
          <a:p>
            <a:pPr algn="ctr"/>
            <a:r>
              <a:rPr lang="en-US" sz="2400" dirty="0" smtClean="0">
                <a:solidFill>
                  <a:srgbClr val="FF0000"/>
                </a:solidFill>
              </a:rPr>
              <a:t> involving extra dimensions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2133600" y="2590800"/>
          <a:ext cx="5410200" cy="5257800"/>
        </p:xfrm>
        <a:graphic>
          <a:graphicData uri="http://schemas.openxmlformats.org/presentationml/2006/ole">
            <p:oleObj spid="_x0000_s2050" name="Acrobat Document" r:id="rId5" imgW="7779960" imgH="10051560" progId="AcroExch.Document.7">
              <p:embed/>
            </p:oleObj>
          </a:graphicData>
        </a:graphic>
      </p:graphicFrame>
      <p:sp>
        <p:nvSpPr>
          <p:cNvPr id="1028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 smtClean="0"/>
              <a:t>Experiments with CMG </a:t>
            </a:r>
            <a:br>
              <a:rPr lang="en-US" sz="3200" dirty="0" smtClean="0"/>
            </a:br>
            <a:r>
              <a:rPr lang="en-US" sz="3200" dirty="0" err="1" smtClean="0"/>
              <a:t>vs</a:t>
            </a:r>
            <a:r>
              <a:rPr lang="en-US" sz="3200" dirty="0" smtClean="0"/>
              <a:t> Subgraph Preconditioners</a:t>
            </a:r>
            <a:br>
              <a:rPr lang="en-US" sz="3200" dirty="0" smtClean="0"/>
            </a:br>
            <a:endParaRPr lang="en-US" sz="3200" dirty="0" smtClean="0"/>
          </a:p>
        </p:txBody>
      </p:sp>
      <p:sp>
        <p:nvSpPr>
          <p:cNvPr id="10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Systems with 25 million variables in &lt;2 minutes</a:t>
            </a:r>
          </a:p>
          <a:p>
            <a:r>
              <a:rPr lang="en-US" sz="2000" dirty="0" smtClean="0"/>
              <a:t>Steiner preconditioner construction  at least 4-5 times faster                      relative to subgraph preconditioner construction [sequential only]</a:t>
            </a:r>
          </a:p>
          <a:p>
            <a:r>
              <a:rPr lang="en-US" sz="2000" dirty="0" smtClean="0"/>
              <a:t>Steiner preconditioner gives much faster iteration</a:t>
            </a:r>
          </a:p>
          <a:p>
            <a:r>
              <a:rPr lang="en-US" sz="2000" dirty="0" smtClean="0"/>
              <a:t>Speed of convergence measured by residual error at iteration k</a:t>
            </a:r>
          </a:p>
        </p:txBody>
      </p:sp>
      <p:pic>
        <p:nvPicPr>
          <p:cNvPr id="8" name="Picture 7" descr="TP_tmp.bmp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4343400" y="3590903"/>
            <a:ext cx="1210237" cy="295297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743200"/>
            <a:ext cx="7498080" cy="1143000"/>
          </a:xfrm>
        </p:spPr>
        <p:txBody>
          <a:bodyPr/>
          <a:lstStyle/>
          <a:p>
            <a:pPr algn="ctr"/>
            <a:r>
              <a:rPr lang="en-US" dirty="0" smtClean="0"/>
              <a:t>Thank you!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Decomposition into isolated expanders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exceptional vertex greatly simplifies computation</a:t>
            </a:r>
          </a:p>
          <a:p>
            <a:endParaRPr lang="en-US" sz="2000" dirty="0" smtClean="0"/>
          </a:p>
          <a:p>
            <a:r>
              <a:rPr lang="en-US" sz="2400" dirty="0" smtClean="0"/>
              <a:t>Effective Degree of a Vertex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</p:txBody>
      </p:sp>
      <p:pic>
        <p:nvPicPr>
          <p:cNvPr id="8" name="Picture 7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rcRect/>
          <a:stretch>
            <a:fillRect/>
          </a:stretch>
        </p:blipFill>
        <p:spPr bwMode="auto">
          <a:xfrm>
            <a:off x="4876800" y="2779712"/>
            <a:ext cx="3733800" cy="725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7" name="Oval 11"/>
          <p:cNvSpPr>
            <a:spLocks noChangeArrowheads="1"/>
          </p:cNvSpPr>
          <p:nvPr/>
        </p:nvSpPr>
        <p:spPr bwMode="auto">
          <a:xfrm>
            <a:off x="2438400" y="4267200"/>
            <a:ext cx="304800" cy="304800"/>
          </a:xfrm>
          <a:prstGeom prst="ellipse">
            <a:avLst/>
          </a:prstGeom>
          <a:solidFill>
            <a:schemeClr val="bg2">
              <a:alpha val="18823"/>
            </a:schemeClr>
          </a:solidFill>
          <a:ln w="31750" algn="ctr">
            <a:solidFill>
              <a:schemeClr val="accent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29708" name="Straight Connector 12"/>
          <p:cNvCxnSpPr>
            <a:cxnSpLocks noChangeShapeType="1"/>
            <a:stCxn id="29712" idx="2"/>
            <a:endCxn id="29707" idx="7"/>
          </p:cNvCxnSpPr>
          <p:nvPr/>
        </p:nvCxnSpPr>
        <p:spPr bwMode="auto">
          <a:xfrm rot="10800000" flipV="1">
            <a:off x="2698564" y="4114799"/>
            <a:ext cx="806637" cy="197037"/>
          </a:xfrm>
          <a:prstGeom prst="line">
            <a:avLst/>
          </a:prstGeom>
          <a:noFill/>
          <a:ln w="31750" algn="ctr">
            <a:solidFill>
              <a:schemeClr val="accent6"/>
            </a:solidFill>
            <a:round/>
            <a:headEnd/>
            <a:tailEnd/>
          </a:ln>
        </p:spPr>
      </p:cxnSp>
      <p:cxnSp>
        <p:nvCxnSpPr>
          <p:cNvPr id="29709" name="Straight Connector 17"/>
          <p:cNvCxnSpPr>
            <a:cxnSpLocks noChangeShapeType="1"/>
            <a:stCxn id="29713" idx="2"/>
            <a:endCxn id="29707" idx="5"/>
          </p:cNvCxnSpPr>
          <p:nvPr/>
        </p:nvCxnSpPr>
        <p:spPr bwMode="auto">
          <a:xfrm rot="10800000">
            <a:off x="2698564" y="4527364"/>
            <a:ext cx="882837" cy="120837"/>
          </a:xfrm>
          <a:prstGeom prst="line">
            <a:avLst/>
          </a:prstGeom>
          <a:noFill/>
          <a:ln w="31750" algn="ctr">
            <a:solidFill>
              <a:schemeClr val="accent6"/>
            </a:solidFill>
            <a:round/>
            <a:headEnd/>
            <a:tailEnd/>
          </a:ln>
        </p:spPr>
      </p:cxnSp>
      <p:cxnSp>
        <p:nvCxnSpPr>
          <p:cNvPr id="29710" name="Straight Connector 22"/>
          <p:cNvCxnSpPr>
            <a:cxnSpLocks noChangeShapeType="1"/>
            <a:stCxn id="29707" idx="1"/>
            <a:endCxn id="29714" idx="5"/>
          </p:cNvCxnSpPr>
          <p:nvPr/>
        </p:nvCxnSpPr>
        <p:spPr bwMode="auto">
          <a:xfrm rot="16200000" flipV="1">
            <a:off x="2127063" y="3955863"/>
            <a:ext cx="241674" cy="470274"/>
          </a:xfrm>
          <a:prstGeom prst="line">
            <a:avLst/>
          </a:prstGeom>
          <a:noFill/>
          <a:ln w="31750" algn="ctr">
            <a:solidFill>
              <a:schemeClr val="accent6"/>
            </a:solidFill>
            <a:round/>
            <a:headEnd/>
            <a:tailEnd/>
          </a:ln>
        </p:spPr>
      </p:cxnSp>
      <p:cxnSp>
        <p:nvCxnSpPr>
          <p:cNvPr id="29711" name="Straight Connector 25"/>
          <p:cNvCxnSpPr>
            <a:cxnSpLocks noChangeShapeType="1"/>
            <a:stCxn id="29707" idx="2"/>
          </p:cNvCxnSpPr>
          <p:nvPr/>
        </p:nvCxnSpPr>
        <p:spPr bwMode="auto">
          <a:xfrm rot="10800000" flipV="1">
            <a:off x="1828808" y="4419600"/>
            <a:ext cx="609593" cy="76200"/>
          </a:xfrm>
          <a:prstGeom prst="line">
            <a:avLst/>
          </a:prstGeom>
          <a:noFill/>
          <a:ln w="31750" algn="ctr">
            <a:solidFill>
              <a:schemeClr val="accent6"/>
            </a:solidFill>
            <a:round/>
            <a:headEnd/>
            <a:tailEnd/>
          </a:ln>
        </p:spPr>
      </p:cxnSp>
      <p:sp>
        <p:nvSpPr>
          <p:cNvPr id="29712" name="Oval 27"/>
          <p:cNvSpPr>
            <a:spLocks noChangeArrowheads="1"/>
          </p:cNvSpPr>
          <p:nvPr/>
        </p:nvSpPr>
        <p:spPr bwMode="auto">
          <a:xfrm>
            <a:off x="3505200" y="3962400"/>
            <a:ext cx="304800" cy="304800"/>
          </a:xfrm>
          <a:prstGeom prst="ellipse">
            <a:avLst/>
          </a:prstGeom>
          <a:solidFill>
            <a:schemeClr val="bg2">
              <a:alpha val="18823"/>
            </a:schemeClr>
          </a:solidFill>
          <a:ln w="31750" algn="ctr">
            <a:solidFill>
              <a:schemeClr val="accent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3" name="Oval 29"/>
          <p:cNvSpPr>
            <a:spLocks noChangeArrowheads="1"/>
          </p:cNvSpPr>
          <p:nvPr/>
        </p:nvSpPr>
        <p:spPr bwMode="auto">
          <a:xfrm>
            <a:off x="3581400" y="4495800"/>
            <a:ext cx="304800" cy="304800"/>
          </a:xfrm>
          <a:prstGeom prst="ellipse">
            <a:avLst/>
          </a:prstGeom>
          <a:solidFill>
            <a:schemeClr val="bg2">
              <a:alpha val="18823"/>
            </a:schemeClr>
          </a:solidFill>
          <a:ln w="31750" algn="ctr">
            <a:solidFill>
              <a:schemeClr val="accent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4" name="Oval 31"/>
          <p:cNvSpPr>
            <a:spLocks noChangeArrowheads="1"/>
          </p:cNvSpPr>
          <p:nvPr/>
        </p:nvSpPr>
        <p:spPr bwMode="auto">
          <a:xfrm>
            <a:off x="1752600" y="3810000"/>
            <a:ext cx="304800" cy="304800"/>
          </a:xfrm>
          <a:prstGeom prst="ellipse">
            <a:avLst/>
          </a:prstGeom>
          <a:solidFill>
            <a:schemeClr val="bg2">
              <a:alpha val="18823"/>
            </a:schemeClr>
          </a:solidFill>
          <a:ln w="31750" algn="ctr">
            <a:solidFill>
              <a:schemeClr val="accent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5" name="Oval 33"/>
          <p:cNvSpPr>
            <a:spLocks noChangeArrowheads="1"/>
          </p:cNvSpPr>
          <p:nvPr/>
        </p:nvSpPr>
        <p:spPr bwMode="auto">
          <a:xfrm>
            <a:off x="1524000" y="4343400"/>
            <a:ext cx="304800" cy="304800"/>
          </a:xfrm>
          <a:prstGeom prst="ellipse">
            <a:avLst/>
          </a:prstGeom>
          <a:solidFill>
            <a:schemeClr val="bg2">
              <a:alpha val="18823"/>
            </a:schemeClr>
          </a:solidFill>
          <a:ln w="31750" algn="ctr">
            <a:solidFill>
              <a:schemeClr val="accent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9716" name="TextBox 28"/>
          <p:cNvSpPr txBox="1">
            <a:spLocks noChangeArrowheads="1"/>
          </p:cNvSpPr>
          <p:nvPr/>
        </p:nvSpPr>
        <p:spPr bwMode="auto">
          <a:xfrm>
            <a:off x="2743200" y="3962400"/>
            <a:ext cx="457200" cy="307975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20</a:t>
            </a:r>
          </a:p>
        </p:txBody>
      </p:sp>
      <p:sp>
        <p:nvSpPr>
          <p:cNvPr id="29717" name="TextBox 28"/>
          <p:cNvSpPr txBox="1">
            <a:spLocks noChangeArrowheads="1"/>
          </p:cNvSpPr>
          <p:nvPr/>
        </p:nvSpPr>
        <p:spPr bwMode="auto">
          <a:xfrm>
            <a:off x="2819400" y="4645025"/>
            <a:ext cx="457200" cy="307975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/>
              <a:t>17</a:t>
            </a:r>
          </a:p>
        </p:txBody>
      </p:sp>
      <p:sp>
        <p:nvSpPr>
          <p:cNvPr id="29718" name="TextBox 28"/>
          <p:cNvSpPr txBox="1">
            <a:spLocks noChangeArrowheads="1"/>
          </p:cNvSpPr>
          <p:nvPr/>
        </p:nvSpPr>
        <p:spPr bwMode="auto">
          <a:xfrm>
            <a:off x="1905000" y="4568825"/>
            <a:ext cx="457200" cy="307777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 dirty="0"/>
              <a:t>1</a:t>
            </a:r>
          </a:p>
        </p:txBody>
      </p:sp>
      <p:sp>
        <p:nvSpPr>
          <p:cNvPr id="29719" name="TextBox 28"/>
          <p:cNvSpPr txBox="1">
            <a:spLocks noChangeArrowheads="1"/>
          </p:cNvSpPr>
          <p:nvPr/>
        </p:nvSpPr>
        <p:spPr bwMode="auto">
          <a:xfrm>
            <a:off x="2057400" y="3883223"/>
            <a:ext cx="457200" cy="307777"/>
          </a:xfrm>
          <a:prstGeom prst="rect">
            <a:avLst/>
          </a:prstGeom>
          <a:noFill/>
          <a:ln w="317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3</a:t>
            </a:r>
          </a:p>
        </p:txBody>
      </p:sp>
      <p:pic>
        <p:nvPicPr>
          <p:cNvPr id="42" name="Picture 41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rcRect/>
          <a:stretch>
            <a:fillRect/>
          </a:stretch>
        </p:blipFill>
        <p:spPr bwMode="auto">
          <a:xfrm>
            <a:off x="4343400" y="4233863"/>
            <a:ext cx="35052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sz="2800" b="1" dirty="0" smtClean="0"/>
              <a:t>The algorithm</a:t>
            </a:r>
          </a:p>
          <a:p>
            <a:pPr>
              <a:defRPr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000" dirty="0" smtClean="0"/>
              <a:t>Form a graph F by picking the heaviest incident edge for v</a:t>
            </a:r>
            <a:r>
              <a:rPr lang="en-US" sz="2000" dirty="0" smtClean="0">
                <a:latin typeface="cmsy10"/>
              </a:rPr>
              <a:t>2</a:t>
            </a:r>
            <a:r>
              <a:rPr lang="en-US" sz="2000" dirty="0" smtClean="0"/>
              <a:t> V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000" dirty="0" smtClean="0"/>
              <a:t>F is a forest of trees with no singletons vertices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000" dirty="0" smtClean="0"/>
              <a:t>For each vertex with wd(v)&gt;T cut the edge out in F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000" dirty="0" smtClean="0"/>
              <a:t>Split remaining F into constant size clusters</a:t>
            </a:r>
          </a:p>
          <a:p>
            <a:pPr marL="457200" indent="-457200">
              <a:buFont typeface="+mj-lt"/>
              <a:buAutoNum type="arabicPeriod"/>
              <a:defRPr/>
            </a:pPr>
            <a:endParaRPr lang="en-US" sz="2000" dirty="0" smtClean="0"/>
          </a:p>
          <a:p>
            <a:pPr marL="457200" indent="-457200">
              <a:buFont typeface="Wingdings" pitchFamily="2" charset="2"/>
              <a:buNone/>
              <a:defRPr/>
            </a:pPr>
            <a:r>
              <a:rPr lang="en-US" sz="2000" dirty="0" smtClean="0"/>
              <a:t>Each constant size cluster has:</a:t>
            </a:r>
          </a:p>
          <a:p>
            <a:pPr marL="514350" indent="-514350">
              <a:buFont typeface="Wingdings" pitchFamily="2" charset="2"/>
              <a:buAutoNum type="romanLcParenBoth"/>
              <a:defRPr/>
            </a:pPr>
            <a:r>
              <a:rPr lang="en-US" sz="2000" dirty="0" smtClean="0"/>
              <a:t>constant conductance</a:t>
            </a:r>
          </a:p>
          <a:p>
            <a:pPr marL="514350" indent="-514350">
              <a:buFont typeface="Wingdings" pitchFamily="2" charset="2"/>
              <a:buAutoNum type="romanLcParenBoth"/>
              <a:defRPr/>
            </a:pPr>
            <a:r>
              <a:rPr lang="en-US" sz="2000" dirty="0" smtClean="0"/>
              <a:t>At most one exceptional vertex without the precondition</a:t>
            </a:r>
          </a:p>
          <a:p>
            <a:pPr marL="514350" indent="-514350">
              <a:buFont typeface="Wingdings" pitchFamily="2" charset="2"/>
              <a:buNone/>
              <a:defRPr/>
            </a:pPr>
            <a:r>
              <a:rPr lang="en-US" sz="2000" dirty="0" smtClean="0"/>
              <a:t>With the remaining edges from G the conductance at least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sz="2000" dirty="0" smtClean="0"/>
              <a:t>/T</a:t>
            </a:r>
          </a:p>
          <a:p>
            <a:pPr marL="457200" indent="-457200">
              <a:defRPr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  <a:defRPr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  <a:defRPr/>
            </a:pPr>
            <a:endParaRPr lang="en-US" sz="2000" dirty="0" smtClean="0"/>
          </a:p>
          <a:p>
            <a:pPr marL="457200" indent="-457200">
              <a:defRPr/>
            </a:pPr>
            <a:endParaRPr lang="en-US" sz="2000" dirty="0" smtClean="0"/>
          </a:p>
          <a:p>
            <a:pPr marL="457200" indent="-457200">
              <a:buFont typeface="+mj-lt"/>
              <a:buAutoNum type="arabicPeriod"/>
              <a:defRPr/>
            </a:pPr>
            <a:endParaRPr lang="en-US" sz="2000" dirty="0" smtClean="0"/>
          </a:p>
          <a:p>
            <a:pPr marL="457200" indent="-457200">
              <a:buFont typeface="Wingdings" pitchFamily="2" charset="2"/>
              <a:buNone/>
              <a:defRPr/>
            </a:pPr>
            <a:endParaRPr lang="en-US" sz="2000" dirty="0"/>
          </a:p>
        </p:txBody>
      </p:sp>
      <p:sp>
        <p:nvSpPr>
          <p:cNvPr id="3072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Decompositions in constant </a:t>
            </a:r>
            <a:br>
              <a:rPr lang="en-US" sz="3200" dirty="0" smtClean="0"/>
            </a:br>
            <a:r>
              <a:rPr lang="en-US" sz="3200" dirty="0" smtClean="0"/>
              <a:t>maximum effective degree graphs</a:t>
            </a:r>
          </a:p>
        </p:txBody>
      </p:sp>
      <p:grpSp>
        <p:nvGrpSpPr>
          <p:cNvPr id="2" name="Group 61"/>
          <p:cNvGrpSpPr>
            <a:grpSpLocks/>
          </p:cNvGrpSpPr>
          <p:nvPr/>
        </p:nvGrpSpPr>
        <p:grpSpPr bwMode="auto">
          <a:xfrm>
            <a:off x="1600200" y="3352800"/>
            <a:ext cx="3124200" cy="1093788"/>
            <a:chOff x="1981200" y="4343039"/>
            <a:chExt cx="3124200" cy="1093069"/>
          </a:xfrm>
        </p:grpSpPr>
        <p:sp>
          <p:nvSpPr>
            <p:cNvPr id="30730" name="Oval 16"/>
            <p:cNvSpPr>
              <a:spLocks noChangeArrowheads="1"/>
            </p:cNvSpPr>
            <p:nvPr/>
          </p:nvSpPr>
          <p:spPr bwMode="auto">
            <a:xfrm>
              <a:off x="1981200" y="4572000"/>
              <a:ext cx="152400" cy="152400"/>
            </a:xfrm>
            <a:prstGeom prst="ellipse">
              <a:avLst/>
            </a:prstGeom>
            <a:solidFill>
              <a:schemeClr val="accent1">
                <a:alpha val="18823"/>
              </a:schemeClr>
            </a:solidFill>
            <a:ln w="25400" algn="ctr">
              <a:solidFill>
                <a:schemeClr val="accent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1" name="Oval 17"/>
            <p:cNvSpPr>
              <a:spLocks noChangeArrowheads="1"/>
            </p:cNvSpPr>
            <p:nvPr/>
          </p:nvSpPr>
          <p:spPr bwMode="auto">
            <a:xfrm>
              <a:off x="2971800" y="4572000"/>
              <a:ext cx="152400" cy="152400"/>
            </a:xfrm>
            <a:prstGeom prst="ellipse">
              <a:avLst/>
            </a:prstGeom>
            <a:solidFill>
              <a:schemeClr val="accent1">
                <a:alpha val="18823"/>
              </a:schemeClr>
            </a:solidFill>
            <a:ln w="25400" algn="ctr">
              <a:solidFill>
                <a:schemeClr val="accent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2" name="Oval 18"/>
            <p:cNvSpPr>
              <a:spLocks noChangeArrowheads="1"/>
            </p:cNvSpPr>
            <p:nvPr/>
          </p:nvSpPr>
          <p:spPr bwMode="auto">
            <a:xfrm>
              <a:off x="3962400" y="4572000"/>
              <a:ext cx="152400" cy="152400"/>
            </a:xfrm>
            <a:prstGeom prst="ellipse">
              <a:avLst/>
            </a:prstGeom>
            <a:solidFill>
              <a:schemeClr val="accent1">
                <a:alpha val="18823"/>
              </a:schemeClr>
            </a:solidFill>
            <a:ln w="25400" algn="ctr">
              <a:solidFill>
                <a:schemeClr val="accent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33" name="Oval 19"/>
            <p:cNvSpPr>
              <a:spLocks noChangeArrowheads="1"/>
            </p:cNvSpPr>
            <p:nvPr/>
          </p:nvSpPr>
          <p:spPr bwMode="auto">
            <a:xfrm>
              <a:off x="4953000" y="4572000"/>
              <a:ext cx="152400" cy="152400"/>
            </a:xfrm>
            <a:prstGeom prst="ellipse">
              <a:avLst/>
            </a:prstGeom>
            <a:solidFill>
              <a:schemeClr val="accent1">
                <a:alpha val="18823"/>
              </a:schemeClr>
            </a:solidFill>
            <a:ln w="25400" algn="ctr">
              <a:solidFill>
                <a:schemeClr val="accent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30734" name="Straight Arrow Connector 21"/>
            <p:cNvCxnSpPr>
              <a:cxnSpLocks noChangeShapeType="1"/>
              <a:stCxn id="30730" idx="6"/>
              <a:endCxn id="30731" idx="2"/>
            </p:cNvCxnSpPr>
            <p:nvPr/>
          </p:nvCxnSpPr>
          <p:spPr bwMode="auto">
            <a:xfrm>
              <a:off x="2133600" y="4648200"/>
              <a:ext cx="838200" cy="1588"/>
            </a:xfrm>
            <a:prstGeom prst="straightConnector1">
              <a:avLst/>
            </a:prstGeom>
            <a:noFill/>
            <a:ln w="25400" algn="ctr">
              <a:solidFill>
                <a:schemeClr val="accent6"/>
              </a:solidFill>
              <a:prstDash val="lgDash"/>
              <a:round/>
              <a:headEnd/>
              <a:tailEnd type="arrow" w="med" len="med"/>
            </a:ln>
          </p:spPr>
        </p:cxnSp>
        <p:cxnSp>
          <p:nvCxnSpPr>
            <p:cNvPr id="30735" name="Straight Arrow Connector 24"/>
            <p:cNvCxnSpPr>
              <a:cxnSpLocks noChangeShapeType="1"/>
            </p:cNvCxnSpPr>
            <p:nvPr/>
          </p:nvCxnSpPr>
          <p:spPr bwMode="auto">
            <a:xfrm>
              <a:off x="3124200" y="4648200"/>
              <a:ext cx="838200" cy="1588"/>
            </a:xfrm>
            <a:prstGeom prst="straightConnector1">
              <a:avLst/>
            </a:prstGeom>
            <a:noFill/>
            <a:ln w="25400" algn="ctr">
              <a:solidFill>
                <a:schemeClr val="accent6"/>
              </a:solidFill>
              <a:prstDash val="lgDash"/>
              <a:round/>
              <a:headEnd/>
              <a:tailEnd type="arrow" w="med" len="med"/>
            </a:ln>
          </p:spPr>
        </p:cxnSp>
        <p:cxnSp>
          <p:nvCxnSpPr>
            <p:cNvPr id="30736" name="Straight Arrow Connector 25"/>
            <p:cNvCxnSpPr>
              <a:cxnSpLocks noChangeShapeType="1"/>
            </p:cNvCxnSpPr>
            <p:nvPr/>
          </p:nvCxnSpPr>
          <p:spPr bwMode="auto">
            <a:xfrm>
              <a:off x="4114800" y="4648200"/>
              <a:ext cx="838200" cy="1588"/>
            </a:xfrm>
            <a:prstGeom prst="straightConnector1">
              <a:avLst/>
            </a:prstGeom>
            <a:noFill/>
            <a:ln w="25400" algn="ctr">
              <a:solidFill>
                <a:schemeClr val="accent6"/>
              </a:solidFill>
              <a:prstDash val="lgDash"/>
              <a:round/>
              <a:headEnd/>
              <a:tailEnd type="arrow" w="med" len="med"/>
            </a:ln>
          </p:spPr>
        </p:cxnSp>
        <p:cxnSp>
          <p:nvCxnSpPr>
            <p:cNvPr id="30737" name="Shape 46"/>
            <p:cNvCxnSpPr>
              <a:cxnSpLocks noChangeShapeType="1"/>
              <a:stCxn id="30733" idx="4"/>
              <a:endCxn id="30730" idx="4"/>
            </p:cNvCxnSpPr>
            <p:nvPr/>
          </p:nvCxnSpPr>
          <p:spPr bwMode="auto">
            <a:xfrm rot="5400000">
              <a:off x="3543300" y="3238500"/>
              <a:ext cx="1588" cy="2971800"/>
            </a:xfrm>
            <a:prstGeom prst="curvedConnector3">
              <a:avLst>
                <a:gd name="adj1" fmla="val 23992454"/>
              </a:avLst>
            </a:prstGeom>
            <a:noFill/>
            <a:ln w="25400" algn="ctr">
              <a:solidFill>
                <a:schemeClr val="accent6"/>
              </a:solidFill>
              <a:prstDash val="lgDash"/>
              <a:round/>
              <a:headEnd/>
              <a:tailEnd type="arrow" w="med" len="med"/>
            </a:ln>
          </p:spPr>
        </p:cxnSp>
        <p:pic>
          <p:nvPicPr>
            <p:cNvPr id="30738" name="Picture 52" descr="TP_tmp.emf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2387600" y="4343039"/>
              <a:ext cx="304800" cy="178308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  <a:miter lim="800000"/>
              <a:headEnd/>
              <a:tailEnd/>
            </a:ln>
          </p:spPr>
        </p:pic>
        <p:pic>
          <p:nvPicPr>
            <p:cNvPr id="30739" name="Picture 54" descr="TP_tmp.emf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3276600" y="4343400"/>
              <a:ext cx="304800" cy="178308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  <a:miter lim="800000"/>
              <a:headEnd/>
              <a:tailEnd/>
            </a:ln>
          </p:spPr>
        </p:pic>
        <p:pic>
          <p:nvPicPr>
            <p:cNvPr id="30740" name="Picture 56" descr="TP_tmp.emf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4343400" y="4343400"/>
              <a:ext cx="304800" cy="178308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  <a:miter lim="800000"/>
              <a:headEnd/>
              <a:tailEnd/>
            </a:ln>
          </p:spPr>
        </p:pic>
        <p:pic>
          <p:nvPicPr>
            <p:cNvPr id="30741" name="Picture 58" descr="TP_tmp.emf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3429000" y="5257800"/>
              <a:ext cx="304800" cy="178308"/>
            </a:xfrm>
            <a:prstGeom prst="rect">
              <a:avLst/>
            </a:prstGeom>
            <a:noFill/>
            <a:ln w="9525">
              <a:solidFill>
                <a:schemeClr val="accent6"/>
              </a:solidFill>
              <a:miter lim="800000"/>
              <a:headEnd/>
              <a:tailEnd/>
            </a:ln>
          </p:spPr>
        </p:pic>
      </p:grpSp>
      <p:pic>
        <p:nvPicPr>
          <p:cNvPr id="61" name="Picture 60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rcRect/>
          <a:stretch>
            <a:fillRect/>
          </a:stretch>
        </p:blipFill>
        <p:spPr bwMode="auto">
          <a:xfrm>
            <a:off x="5105400" y="3352800"/>
            <a:ext cx="28702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3" name="Straight Connector 62"/>
          <p:cNvCxnSpPr>
            <a:cxnSpLocks noChangeShapeType="1"/>
          </p:cNvCxnSpPr>
          <p:nvPr/>
        </p:nvCxnSpPr>
        <p:spPr bwMode="auto">
          <a:xfrm>
            <a:off x="1066800" y="4114800"/>
            <a:ext cx="6553200" cy="1588"/>
          </a:xfrm>
          <a:prstGeom prst="line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Preconditioner preserves sparse cuts, aggregates expanders</a:t>
            </a:r>
          </a:p>
          <a:p>
            <a:endParaRPr lang="en-US" sz="2000" dirty="0" smtClean="0"/>
          </a:p>
          <a:p>
            <a:endParaRPr lang="en-US" sz="2000" dirty="0" smtClean="0"/>
          </a:p>
        </p:txBody>
      </p:sp>
      <p:cxnSp>
        <p:nvCxnSpPr>
          <p:cNvPr id="34876" name="Straight Connector 11"/>
          <p:cNvCxnSpPr>
            <a:cxnSpLocks noChangeShapeType="1"/>
            <a:stCxn id="34822" idx="7"/>
            <a:endCxn id="34823" idx="3"/>
          </p:cNvCxnSpPr>
          <p:nvPr/>
        </p:nvCxnSpPr>
        <p:spPr bwMode="auto">
          <a:xfrm rot="5400000" flipH="1" flipV="1">
            <a:off x="1479514" y="2698579"/>
            <a:ext cx="470189" cy="92731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4877" name="Straight Connector 17"/>
          <p:cNvCxnSpPr>
            <a:cxnSpLocks noChangeShapeType="1"/>
            <a:stCxn id="34823" idx="6"/>
            <a:endCxn id="34825" idx="2"/>
          </p:cNvCxnSpPr>
          <p:nvPr/>
        </p:nvCxnSpPr>
        <p:spPr bwMode="auto">
          <a:xfrm>
            <a:off x="2438387" y="2819400"/>
            <a:ext cx="838059" cy="158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4878" name="Straight Connector 33"/>
          <p:cNvCxnSpPr>
            <a:cxnSpLocks noChangeShapeType="1"/>
            <a:stCxn id="34823" idx="5"/>
            <a:endCxn id="34826" idx="1"/>
          </p:cNvCxnSpPr>
          <p:nvPr/>
        </p:nvCxnSpPr>
        <p:spPr bwMode="auto">
          <a:xfrm rot="16200000" flipH="1">
            <a:off x="2469951" y="2850951"/>
            <a:ext cx="927306" cy="1079692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48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Construction of the Steiner preconditioner</a:t>
            </a:r>
            <a:br>
              <a:rPr lang="en-US" sz="3200" dirty="0" smtClean="0"/>
            </a:br>
            <a:r>
              <a:rPr lang="en-US" sz="2400" dirty="0" smtClean="0"/>
              <a:t>illustration by a small example </a:t>
            </a:r>
          </a:p>
        </p:txBody>
      </p:sp>
      <p:sp>
        <p:nvSpPr>
          <p:cNvPr id="34822" name="Oval 5"/>
          <p:cNvSpPr>
            <a:spLocks noChangeArrowheads="1"/>
          </p:cNvSpPr>
          <p:nvPr/>
        </p:nvSpPr>
        <p:spPr bwMode="auto">
          <a:xfrm>
            <a:off x="990600" y="33528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3" name="Oval 6"/>
          <p:cNvSpPr>
            <a:spLocks noChangeArrowheads="1"/>
          </p:cNvSpPr>
          <p:nvPr/>
        </p:nvSpPr>
        <p:spPr bwMode="auto">
          <a:xfrm>
            <a:off x="2133600" y="26670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4" name="Oval 7"/>
          <p:cNvSpPr>
            <a:spLocks noChangeArrowheads="1"/>
          </p:cNvSpPr>
          <p:nvPr/>
        </p:nvSpPr>
        <p:spPr bwMode="auto">
          <a:xfrm>
            <a:off x="2133600" y="38100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5" name="Oval 8"/>
          <p:cNvSpPr>
            <a:spLocks noChangeArrowheads="1"/>
          </p:cNvSpPr>
          <p:nvPr/>
        </p:nvSpPr>
        <p:spPr bwMode="auto">
          <a:xfrm>
            <a:off x="3276600" y="26670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6" name="Oval 9"/>
          <p:cNvSpPr>
            <a:spLocks noChangeArrowheads="1"/>
          </p:cNvSpPr>
          <p:nvPr/>
        </p:nvSpPr>
        <p:spPr bwMode="auto">
          <a:xfrm>
            <a:off x="3429000" y="38100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4827" name="Straight Connector 14"/>
          <p:cNvCxnSpPr>
            <a:cxnSpLocks noChangeShapeType="1"/>
          </p:cNvCxnSpPr>
          <p:nvPr/>
        </p:nvCxnSpPr>
        <p:spPr bwMode="auto">
          <a:xfrm rot="16200000" flipH="1">
            <a:off x="1593850" y="3302000"/>
            <a:ext cx="241300" cy="92710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4828" name="Straight Connector 22"/>
          <p:cNvCxnSpPr>
            <a:cxnSpLocks noChangeShapeType="1"/>
            <a:stCxn id="34824" idx="6"/>
            <a:endCxn id="34826" idx="2"/>
          </p:cNvCxnSpPr>
          <p:nvPr/>
        </p:nvCxnSpPr>
        <p:spPr bwMode="auto">
          <a:xfrm>
            <a:off x="2438400" y="3962400"/>
            <a:ext cx="990600" cy="158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4829" name="TextBox 27"/>
          <p:cNvSpPr txBox="1">
            <a:spLocks noChangeArrowheads="1"/>
          </p:cNvSpPr>
          <p:nvPr/>
        </p:nvSpPr>
        <p:spPr bwMode="auto">
          <a:xfrm>
            <a:off x="1295400" y="2892425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2</a:t>
            </a:r>
          </a:p>
        </p:txBody>
      </p:sp>
      <p:sp>
        <p:nvSpPr>
          <p:cNvPr id="34830" name="TextBox 28"/>
          <p:cNvSpPr txBox="1">
            <a:spLocks noChangeArrowheads="1"/>
          </p:cNvSpPr>
          <p:nvPr/>
        </p:nvSpPr>
        <p:spPr bwMode="auto">
          <a:xfrm>
            <a:off x="1447800" y="3852863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20</a:t>
            </a:r>
          </a:p>
        </p:txBody>
      </p:sp>
      <p:sp>
        <p:nvSpPr>
          <p:cNvPr id="34831" name="TextBox 29"/>
          <p:cNvSpPr txBox="1">
            <a:spLocks noChangeArrowheads="1"/>
          </p:cNvSpPr>
          <p:nvPr/>
        </p:nvSpPr>
        <p:spPr bwMode="auto">
          <a:xfrm>
            <a:off x="2667000" y="4005263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15</a:t>
            </a:r>
          </a:p>
        </p:txBody>
      </p:sp>
      <p:sp>
        <p:nvSpPr>
          <p:cNvPr id="34832" name="TextBox 30"/>
          <p:cNvSpPr txBox="1">
            <a:spLocks noChangeArrowheads="1"/>
          </p:cNvSpPr>
          <p:nvPr/>
        </p:nvSpPr>
        <p:spPr bwMode="auto">
          <a:xfrm>
            <a:off x="2667000" y="2057400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30</a:t>
            </a:r>
          </a:p>
        </p:txBody>
      </p:sp>
      <p:sp>
        <p:nvSpPr>
          <p:cNvPr id="34833" name="TextBox 31"/>
          <p:cNvSpPr txBox="1">
            <a:spLocks noChangeArrowheads="1"/>
          </p:cNvSpPr>
          <p:nvPr/>
        </p:nvSpPr>
        <p:spPr bwMode="auto">
          <a:xfrm>
            <a:off x="2895600" y="3124200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1</a:t>
            </a:r>
          </a:p>
        </p:txBody>
      </p:sp>
      <p:pic>
        <p:nvPicPr>
          <p:cNvPr id="34835" name="Picture 44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rcRect/>
          <a:stretch>
            <a:fillRect/>
          </a:stretch>
        </p:blipFill>
        <p:spPr bwMode="auto">
          <a:xfrm>
            <a:off x="914400" y="3784600"/>
            <a:ext cx="2286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36" name="Picture 46" descr="TP_tmp.em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rcRect/>
          <a:stretch>
            <a:fillRect/>
          </a:stretch>
        </p:blipFill>
        <p:spPr bwMode="auto">
          <a:xfrm>
            <a:off x="2197100" y="4241800"/>
            <a:ext cx="254000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37" name="Picture 48" descr="TP_tmp.em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rcRect/>
          <a:stretch>
            <a:fillRect/>
          </a:stretch>
        </p:blipFill>
        <p:spPr bwMode="auto">
          <a:xfrm>
            <a:off x="3554413" y="4241800"/>
            <a:ext cx="255587" cy="17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38" name="Picture 57" descr="TP_tmp.emf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/>
          <a:srcRect/>
          <a:stretch>
            <a:fillRect/>
          </a:stretch>
        </p:blipFill>
        <p:spPr bwMode="auto">
          <a:xfrm>
            <a:off x="2057400" y="2362200"/>
            <a:ext cx="255588" cy="17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39" name="Picture 60" descr="TP_tmp.emf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/>
          <a:srcRect/>
          <a:stretch>
            <a:fillRect/>
          </a:stretch>
        </p:blipFill>
        <p:spPr bwMode="auto">
          <a:xfrm>
            <a:off x="3325813" y="2411413"/>
            <a:ext cx="255587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2" name="Straight Connector 61"/>
          <p:cNvCxnSpPr>
            <a:cxnSpLocks noChangeShapeType="1"/>
          </p:cNvCxnSpPr>
          <p:nvPr/>
        </p:nvCxnSpPr>
        <p:spPr bwMode="auto">
          <a:xfrm rot="16200000" flipH="1">
            <a:off x="1625600" y="3302000"/>
            <a:ext cx="241300" cy="927100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 type="triangle" w="med" len="med"/>
            <a:tailEnd/>
          </a:ln>
        </p:spPr>
      </p:cxnSp>
      <p:cxnSp>
        <p:nvCxnSpPr>
          <p:cNvPr id="63" name="Straight Connector 62"/>
          <p:cNvCxnSpPr>
            <a:cxnSpLocks noChangeShapeType="1"/>
          </p:cNvCxnSpPr>
          <p:nvPr/>
        </p:nvCxnSpPr>
        <p:spPr bwMode="auto">
          <a:xfrm>
            <a:off x="2438400" y="3962400"/>
            <a:ext cx="990600" cy="1588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 type="triangle" w="med" len="med"/>
            <a:tailEnd/>
          </a:ln>
        </p:spPr>
      </p:cxnSp>
      <p:cxnSp>
        <p:nvCxnSpPr>
          <p:cNvPr id="66" name="Straight Connector 65"/>
          <p:cNvCxnSpPr>
            <a:cxnSpLocks noChangeShapeType="1"/>
          </p:cNvCxnSpPr>
          <p:nvPr/>
        </p:nvCxnSpPr>
        <p:spPr bwMode="auto">
          <a:xfrm>
            <a:off x="2438400" y="2895600"/>
            <a:ext cx="838200" cy="1588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 type="triangle" w="med" len="med"/>
            <a:tailEnd/>
          </a:ln>
        </p:spPr>
      </p:cxnSp>
      <p:cxnSp>
        <p:nvCxnSpPr>
          <p:cNvPr id="68" name="Straight Connector 67"/>
          <p:cNvCxnSpPr>
            <a:cxnSpLocks noChangeShapeType="1"/>
          </p:cNvCxnSpPr>
          <p:nvPr/>
        </p:nvCxnSpPr>
        <p:spPr bwMode="auto">
          <a:xfrm>
            <a:off x="2438400" y="2741612"/>
            <a:ext cx="838200" cy="1588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71" name="Oval 70"/>
          <p:cNvSpPr>
            <a:spLocks noChangeArrowheads="1"/>
          </p:cNvSpPr>
          <p:nvPr/>
        </p:nvSpPr>
        <p:spPr bwMode="auto">
          <a:xfrm>
            <a:off x="5410200" y="2667000"/>
            <a:ext cx="304800" cy="304800"/>
          </a:xfrm>
          <a:prstGeom prst="ellipse">
            <a:avLst/>
          </a:prstGeom>
          <a:solidFill>
            <a:srgbClr val="FF0000"/>
          </a:solidFill>
          <a:ln w="158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" name="Oval 71"/>
          <p:cNvSpPr>
            <a:spLocks noChangeArrowheads="1"/>
          </p:cNvSpPr>
          <p:nvPr/>
        </p:nvSpPr>
        <p:spPr bwMode="auto">
          <a:xfrm>
            <a:off x="4800600" y="35814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3" name="Oval 72"/>
          <p:cNvSpPr>
            <a:spLocks noChangeArrowheads="1"/>
          </p:cNvSpPr>
          <p:nvPr/>
        </p:nvSpPr>
        <p:spPr bwMode="auto">
          <a:xfrm>
            <a:off x="5410200" y="35814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4" name="Oval 73"/>
          <p:cNvSpPr>
            <a:spLocks noChangeArrowheads="1"/>
          </p:cNvSpPr>
          <p:nvPr/>
        </p:nvSpPr>
        <p:spPr bwMode="auto">
          <a:xfrm>
            <a:off x="6019800" y="35814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rgbClr val="0070C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cxnSp>
        <p:nvCxnSpPr>
          <p:cNvPr id="75" name="Straight Connector 74"/>
          <p:cNvCxnSpPr>
            <a:cxnSpLocks noChangeShapeType="1"/>
            <a:stCxn id="71" idx="3"/>
          </p:cNvCxnSpPr>
          <p:nvPr/>
        </p:nvCxnSpPr>
        <p:spPr bwMode="auto">
          <a:xfrm rot="5400000">
            <a:off x="4892675" y="3032125"/>
            <a:ext cx="666750" cy="45720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pic>
        <p:nvPicPr>
          <p:cNvPr id="78" name="Picture 77" descr="TP_tmp.emf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/>
          <a:srcRect/>
          <a:stretch>
            <a:fillRect/>
          </a:stretch>
        </p:blipFill>
        <p:spPr bwMode="auto">
          <a:xfrm>
            <a:off x="4786313" y="4011613"/>
            <a:ext cx="230187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" name="Picture 79" descr="TP_tmp.emf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/>
          <a:srcRect/>
          <a:stretch>
            <a:fillRect/>
          </a:stretch>
        </p:blipFill>
        <p:spPr bwMode="auto">
          <a:xfrm>
            <a:off x="5397500" y="4038600"/>
            <a:ext cx="255588" cy="17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1" name="Straight Connector 80"/>
          <p:cNvCxnSpPr>
            <a:cxnSpLocks noChangeShapeType="1"/>
            <a:stCxn id="71" idx="4"/>
            <a:endCxn id="73" idx="0"/>
          </p:cNvCxnSpPr>
          <p:nvPr/>
        </p:nvCxnSpPr>
        <p:spPr bwMode="auto">
          <a:xfrm rot="5400000">
            <a:off x="5257801" y="3276600"/>
            <a:ext cx="609600" cy="31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84" name="Straight Connector 83"/>
          <p:cNvCxnSpPr>
            <a:cxnSpLocks noChangeShapeType="1"/>
            <a:stCxn id="71" idx="5"/>
            <a:endCxn id="74" idx="1"/>
          </p:cNvCxnSpPr>
          <p:nvPr/>
        </p:nvCxnSpPr>
        <p:spPr bwMode="auto">
          <a:xfrm rot="16200000" flipH="1">
            <a:off x="5518150" y="3079750"/>
            <a:ext cx="698500" cy="39370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pic>
        <p:nvPicPr>
          <p:cNvPr id="90" name="Picture 89" descr="TP_tmp.emf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/>
          <a:srcRect/>
          <a:stretch>
            <a:fillRect/>
          </a:stretch>
        </p:blipFill>
        <p:spPr bwMode="auto">
          <a:xfrm>
            <a:off x="6019800" y="4011613"/>
            <a:ext cx="257175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1" name="Oval 90"/>
          <p:cNvSpPr>
            <a:spLocks noChangeArrowheads="1"/>
          </p:cNvSpPr>
          <p:nvPr/>
        </p:nvSpPr>
        <p:spPr bwMode="auto">
          <a:xfrm>
            <a:off x="7543800" y="2667000"/>
            <a:ext cx="304800" cy="304800"/>
          </a:xfrm>
          <a:prstGeom prst="ellipse">
            <a:avLst/>
          </a:prstGeom>
          <a:solidFill>
            <a:srgbClr val="FF0000"/>
          </a:solidFill>
          <a:ln w="15875" algn="ctr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" name="Oval 91"/>
          <p:cNvSpPr>
            <a:spLocks noChangeArrowheads="1"/>
          </p:cNvSpPr>
          <p:nvPr/>
        </p:nvSpPr>
        <p:spPr bwMode="auto">
          <a:xfrm>
            <a:off x="7162800" y="35814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3" name="Oval 92"/>
          <p:cNvSpPr>
            <a:spLocks noChangeArrowheads="1"/>
          </p:cNvSpPr>
          <p:nvPr/>
        </p:nvSpPr>
        <p:spPr bwMode="auto">
          <a:xfrm>
            <a:off x="7924800" y="3581400"/>
            <a:ext cx="304800" cy="304800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95" name="Picture 94" descr="TP_tmp.emf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6"/>
          <a:srcRect/>
          <a:stretch>
            <a:fillRect/>
          </a:stretch>
        </p:blipFill>
        <p:spPr bwMode="auto">
          <a:xfrm>
            <a:off x="7072313" y="4038600"/>
            <a:ext cx="255587" cy="17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7" name="Picture 96" descr="TP_tmp.emf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7"/>
          <a:srcRect/>
          <a:stretch>
            <a:fillRect/>
          </a:stretch>
        </p:blipFill>
        <p:spPr bwMode="auto">
          <a:xfrm>
            <a:off x="7924800" y="4038600"/>
            <a:ext cx="257175" cy="179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8" name="Straight Connector 97"/>
          <p:cNvCxnSpPr>
            <a:cxnSpLocks noChangeShapeType="1"/>
            <a:stCxn id="91" idx="3"/>
            <a:endCxn id="92" idx="0"/>
          </p:cNvCxnSpPr>
          <p:nvPr/>
        </p:nvCxnSpPr>
        <p:spPr bwMode="auto">
          <a:xfrm rot="5400000">
            <a:off x="7124700" y="3117850"/>
            <a:ext cx="654050" cy="27305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0" name="Straight Connector 99"/>
          <p:cNvCxnSpPr>
            <a:cxnSpLocks noChangeShapeType="1"/>
            <a:stCxn id="91" idx="5"/>
            <a:endCxn id="93" idx="0"/>
          </p:cNvCxnSpPr>
          <p:nvPr/>
        </p:nvCxnSpPr>
        <p:spPr bwMode="auto">
          <a:xfrm rot="16200000" flipH="1">
            <a:off x="7613650" y="3117850"/>
            <a:ext cx="654050" cy="27305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07" name="TextBox 106"/>
          <p:cNvSpPr txBox="1">
            <a:spLocks noChangeArrowheads="1"/>
          </p:cNvSpPr>
          <p:nvPr/>
        </p:nvSpPr>
        <p:spPr bwMode="auto">
          <a:xfrm>
            <a:off x="4724400" y="3121025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22</a:t>
            </a:r>
          </a:p>
        </p:txBody>
      </p:sp>
      <p:sp>
        <p:nvSpPr>
          <p:cNvPr id="108" name="TextBox 107"/>
          <p:cNvSpPr txBox="1">
            <a:spLocks noChangeArrowheads="1"/>
          </p:cNvSpPr>
          <p:nvPr/>
        </p:nvSpPr>
        <p:spPr bwMode="auto">
          <a:xfrm>
            <a:off x="5181600" y="3124200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35</a:t>
            </a:r>
          </a:p>
        </p:txBody>
      </p:sp>
      <p:sp>
        <p:nvSpPr>
          <p:cNvPr id="109" name="TextBox 108"/>
          <p:cNvSpPr txBox="1">
            <a:spLocks noChangeArrowheads="1"/>
          </p:cNvSpPr>
          <p:nvPr/>
        </p:nvSpPr>
        <p:spPr bwMode="auto">
          <a:xfrm>
            <a:off x="5791200" y="3121025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17</a:t>
            </a:r>
          </a:p>
        </p:txBody>
      </p:sp>
      <p:sp>
        <p:nvSpPr>
          <p:cNvPr id="110" name="TextBox 109"/>
          <p:cNvSpPr txBox="1">
            <a:spLocks noChangeArrowheads="1"/>
          </p:cNvSpPr>
          <p:nvPr/>
        </p:nvSpPr>
        <p:spPr bwMode="auto">
          <a:xfrm>
            <a:off x="6934200" y="3124200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33</a:t>
            </a:r>
          </a:p>
        </p:txBody>
      </p:sp>
      <p:sp>
        <p:nvSpPr>
          <p:cNvPr id="111" name="TextBox 110"/>
          <p:cNvSpPr txBox="1">
            <a:spLocks noChangeArrowheads="1"/>
          </p:cNvSpPr>
          <p:nvPr/>
        </p:nvSpPr>
        <p:spPr bwMode="auto">
          <a:xfrm>
            <a:off x="8001000" y="3124200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31</a:t>
            </a:r>
          </a:p>
        </p:txBody>
      </p:sp>
      <p:cxnSp>
        <p:nvCxnSpPr>
          <p:cNvPr id="34868" name="Straight Connector 111"/>
          <p:cNvCxnSpPr>
            <a:cxnSpLocks noChangeShapeType="1"/>
          </p:cNvCxnSpPr>
          <p:nvPr/>
        </p:nvCxnSpPr>
        <p:spPr bwMode="auto">
          <a:xfrm rot="16200000" flipH="1">
            <a:off x="3048000" y="3352800"/>
            <a:ext cx="838200" cy="7620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4869" name="TextBox 115"/>
          <p:cNvSpPr txBox="1">
            <a:spLocks noChangeArrowheads="1"/>
          </p:cNvSpPr>
          <p:nvPr/>
        </p:nvSpPr>
        <p:spPr bwMode="auto">
          <a:xfrm>
            <a:off x="3505200" y="3200400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1</a:t>
            </a:r>
          </a:p>
        </p:txBody>
      </p:sp>
      <p:cxnSp>
        <p:nvCxnSpPr>
          <p:cNvPr id="117" name="Straight Connector 116"/>
          <p:cNvCxnSpPr>
            <a:cxnSpLocks noChangeShapeType="1"/>
            <a:stCxn id="71" idx="6"/>
            <a:endCxn id="91" idx="2"/>
          </p:cNvCxnSpPr>
          <p:nvPr/>
        </p:nvCxnSpPr>
        <p:spPr bwMode="auto">
          <a:xfrm>
            <a:off x="5715000" y="2819400"/>
            <a:ext cx="1828800" cy="1588"/>
          </a:xfrm>
          <a:prstGeom prst="line">
            <a:avLst/>
          </a:prstGeom>
          <a:noFill/>
          <a:ln w="25400" algn="ctr">
            <a:solidFill>
              <a:srgbClr val="002060"/>
            </a:solidFill>
            <a:round/>
            <a:headEnd/>
            <a:tailEnd/>
          </a:ln>
        </p:spPr>
      </p:cxnSp>
      <p:sp>
        <p:nvSpPr>
          <p:cNvPr id="119" name="TextBox 118"/>
          <p:cNvSpPr txBox="1">
            <a:spLocks noChangeArrowheads="1"/>
          </p:cNvSpPr>
          <p:nvPr/>
        </p:nvSpPr>
        <p:spPr bwMode="auto">
          <a:xfrm>
            <a:off x="6400800" y="2514600"/>
            <a:ext cx="457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/>
              <a:t>4</a:t>
            </a:r>
          </a:p>
        </p:txBody>
      </p:sp>
      <p:cxnSp>
        <p:nvCxnSpPr>
          <p:cNvPr id="54" name="Straight Connector 53"/>
          <p:cNvCxnSpPr>
            <a:cxnSpLocks noChangeShapeType="1"/>
          </p:cNvCxnSpPr>
          <p:nvPr/>
        </p:nvCxnSpPr>
        <p:spPr bwMode="auto">
          <a:xfrm rot="16200000" flipH="1">
            <a:off x="1638300" y="3238500"/>
            <a:ext cx="241300" cy="927100"/>
          </a:xfrm>
          <a:prstGeom prst="line">
            <a:avLst/>
          </a:prstGeom>
          <a:noFill/>
          <a:ln w="34925" algn="ctr">
            <a:solidFill>
              <a:srgbClr val="FF0000"/>
            </a:solidFill>
            <a:round/>
            <a:headEnd type="none" w="med" len="med"/>
            <a:tailEnd type="triangle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1" grpId="0" animBg="1"/>
      <p:bldP spid="92" grpId="0" animBg="1"/>
      <p:bldP spid="93" grpId="0" animBg="1"/>
      <p:bldP spid="107" grpId="0"/>
      <p:bldP spid="108" grpId="0"/>
      <p:bldP spid="109" grpId="0"/>
      <p:bldP spid="110" grpId="0"/>
      <p:bldP spid="111" grpId="0"/>
      <p:bldP spid="119" grpId="0"/>
      <p:bldP spid="119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1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9"/>
  <p:tag name="PICTUREFILESIZE" val="240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2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3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4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5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L = \left(&#10;  \begin{array}{ccccc}&#10;     22  &amp; -20  &amp; 0  &amp; -2 &amp; 0  \\&#10;     -20 &amp;  35  &amp; -15 &amp; 0 &amp; 0   \\&#10;     0  &amp; -15  &amp; 17  &amp; -1 &amp; -1  \\     &#10;     -2 &amp;  0 &amp; -1  &amp; 33 &amp; -30  \\&#10;     0 &amp;  0  &amp;  -1&amp; -30 &amp; 31  \\&#10;  \end{array}&#10;\right)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73"/>
  <p:tag name="PICTUREFILESIZE" val="37025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D^{-1}L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26"/>
  <p:tag name="PICTUREFILESIZE" val="846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LV=I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33"/>
  <p:tag name="PICTUREFILESIZE" val="963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\sigma(L_A,L_B)= \max_{v}  \frac{v^TL_Av}{v^T L_B v}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10"/>
  <p:tag name="PICTUREFILESIZE" val="6200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\kappa(L_A,L_B)= \sigma(L_A,L_B)\sigma(L_B,L_A)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48"/>
  <p:tag name="PICTUREFILESIZE" val="5715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1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9"/>
  <p:tag name="PICTUREFILESIZE" val="240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2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3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4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5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L = \left(&#10;  \begin{array}{ccccc}&#10;     22  &amp; -20  &amp; 0  &amp; -2 &amp; 0  \\&#10;     -20 &amp;  35  &amp; -15 &amp; 0 &amp; 0   \\&#10;     0  &amp; -15  &amp; 17  &amp; -1 &amp; -1  \\     &#10;     -2 &amp;  0 &amp; -1  &amp; 33 &amp; -30  \\&#10;     0 &amp;  0  &amp;  -1&amp; -30 &amp; 31  \\&#10;  \end{array}&#10;\right)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73"/>
  <p:tag name="PICTUREFILESIZE" val="37025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^T L v = \sum_{i,j} w_{i,j} (v_i-v_j)^2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17"/>
  <p:tag name="PICTUREFILESIZE" val="5691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A=\sum_{i=1}^m A_i, B= \sum_{i=1}^m B_i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20"/>
  <p:tag name="PICTUREFILESIZE" val="5046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\sigma(A,B) \leq \max_{i} \sigma(A_i,B_i)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10"/>
  <p:tag name="PICTUREFILESIZE" val="425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4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1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9"/>
  <p:tag name="PICTUREFILESIZE" val="240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2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3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5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O(m\log^c m)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53"/>
  <p:tag name="PICTUREFILESIZE" val="2055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O(n)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21"/>
  <p:tag name="PICTUREFILESIZE" val="811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By = z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31"/>
  <p:tag name="PICTUREFILESIZE" val="1141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T\left(&#10;  \begin{array}{c}&#10;    y \\w\\&#10;  \end{array}&#10;\right) = \left(  \begin{array}{c}&#10;    z \\ 0\\&#10;  \end{array}&#10;\right) 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83"/>
  <p:tag name="PICTUREFILESIZE" val="7345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SC(T,\textnormal{internal nodes})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94"/>
  <p:tag name="PICTUREFILESIZE" val="3593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article}\pagestyle{empty}&#10;\usepackage{amsmath}&#10;\newcommand{\vv}[1]{\ensuremath{\boldsymbol{#1}}}&#10;\begin{document}&#10; ${ x^T SC(T) x} = (x~ y)^T T (x ~y)$&#10;\end{document}&#10;"/>
  <p:tag name="EXTERNALNAME" val="txp_fig"/>
  <p:tag name="BLEND" val="False"/>
  <p:tag name="TRANSPARENT" val="True"/>
  <p:tag name="KEEPFILES" val="False"/>
  <p:tag name="DEBUGPAUSE" val="False"/>
  <p:tag name="RESOLUTION" val="600"/>
  <p:tag name="TIMEOUT" val="(none)"/>
  <p:tag name="BOXWIDTH" val="372"/>
  <p:tag name="BOXHEIGHT" val="391"/>
  <p:tag name="BOXFONT" val="10"/>
  <p:tag name="BOXWRAP" val="False"/>
  <p:tag name="WORKAROUNDTRANSPARENCYBUG" val="False"/>
  <p:tag name="ALLOWFONTSUBSTITUTION" val="False"/>
  <p:tag name="BITMAPFORMAT" val="png256"/>
  <p:tag name="ORIGWIDTH" val="118"/>
  <p:tag name="PICTUREFILESIZE" val="359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\sigma(L_A,L_B)\leq 2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63"/>
  <p:tag name="PICTUREFILESIZE" val="2421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B(i,j) = \frac{W_iW_j}{\sum_i W_i}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69"/>
  <p:tag name="PICTUREFILESIZE" val="4801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B(i,j) = \frac{W_iW_j}{\sum_i W_i}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69"/>
  <p:tag name="PICTUREFILESIZE" val="4801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\sigma(L_B,L_A) &lt; \frac{x^T L_B x}{x^T L_A x} = \frac{x^T L_B x} {x^TD_B x}\cdot  \frac{x^T D_B x} {x^TD_A x}\cdot \frac{x^T D_A x} {x^TL_A x}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201"/>
  <p:tag name="PICTUREFILESIZE" val="11220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W_n&gt;\sum_i W_i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56"/>
  <p:tag name="PICTUREFILESIZE" val="2202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\sigma(L_A,L_B)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44"/>
  <p:tag name="PICTUREFILESIZE" val="1689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L_Q = R^T L_A R 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62"/>
  <p:tag name="PICTUREFILESIZE" val="2646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T\left(&#10;  \begin{array}{c}&#10;    y \\w\\&#10;  \end{array}&#10;\right) = \left(  \begin{array}{c}&#10;    z \\ 0\\&#10;  \end{array}&#10;\right) 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83"/>
  <p:tag name="PICTUREFILESIZE" val="7345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y= (D_A^{-1} + R Q^{-1} R^T)z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4"/>
  <p:tag name="PICTUREFILESIZE" val="4780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1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9"/>
  <p:tag name="PICTUREFILESIZE" val="240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2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3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4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5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M = S(I-PQ^{-1} P^TA)S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10"/>
  <p:tag name="PICTUREFILESIZE" val="4646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B = D + R(Q+D_Q)^{-1}R^T 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17"/>
  <p:tag name="PICTUREFILESIZE" val="4886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\kappa(A,B)=\kappa(\hat{A},\hat{B})=c  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98"/>
  <p:tag name="PICTUREFILESIZE" val="45198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\hat{A}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8"/>
  <p:tag name="PICTUREFILESIZE" val="340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Range(D^{-1/2}R)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71"/>
  <p:tag name="PICTUREFILESIZE" val="3217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\hat{A} = D^{-1/2} A D^{-1/2} 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83"/>
  <p:tag name="PICTUREFILESIZE" val="2945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\hat{B} = D^{-1/2} B D^{-1/2} 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83"/>
  <p:tag name="PICTUREFILESIZE" val="2945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M =D^{-1/2} (I-\hat{A})(I-D^{1/2}RQ^{-1} R^T D^{1/2}\hat{A})(I-\hat{A})D^{1/2}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252"/>
  <p:tag name="PICTUREFILESIZE" val="11463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||b-Ax_k||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45"/>
  <p:tag name="PICTUREFILESIZE" val="1763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wd(v) = \frac{\sum_{u\in N(v)} w(u,v)}{\max u\in N(v) w(u,v)} 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8"/>
  <p:tag name="PICTUREFILESIZE" val="7986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wd(v) = (17+20+1+2)/20 =2 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47"/>
  <p:tag name="PICTUREFILESIZE" val="5642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w_1 &lt; w_2 &lt; w_3 &lt; w_4 &lt; w_1 $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113"/>
  <p:tag name="PICTUREFILESIZE" val="566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w_1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2"/>
  <p:tag name="PICTUREFILESIZE" val="333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w_2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2"/>
  <p:tag name="PICTUREFILESIZE" val="333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w_3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2"/>
  <p:tag name="PICTUREFILESIZE" val="333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w_4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2"/>
  <p:tag name="PICTUREFILESIZE" val="33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1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9"/>
  <p:tag name="PICTUREFILESIZE" val="240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2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3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4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5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1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9"/>
  <p:tag name="PICTUREFILESIZE" val="240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2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3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4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v_5$&#10;\end{document}&#10;"/>
  <p:tag name="FILENAME" val="TP_tmp"/>
  <p:tag name="FORMAT" val="bmpmono"/>
  <p:tag name="RES" val="1200"/>
  <p:tag name="BLEND" val="0"/>
  <p:tag name="TRANSPARENT" val="0"/>
  <p:tag name="TBUG" val="0"/>
  <p:tag name="ALLOWFS" val="0"/>
  <p:tag name="ORIGWIDTH" val="10"/>
  <p:tag name="PICTUREFILESIZE" val="287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9885</TotalTime>
  <Words>1031</Words>
  <Application>Microsoft Office PowerPoint</Application>
  <PresentationFormat>On-screen Show (4:3)</PresentationFormat>
  <Paragraphs>493</Paragraphs>
  <Slides>30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4" baseType="lpstr">
      <vt:lpstr>Arial</vt:lpstr>
      <vt:lpstr>Gill Sans MT</vt:lpstr>
      <vt:lpstr>Wingdings 2</vt:lpstr>
      <vt:lpstr>CMMI10</vt:lpstr>
      <vt:lpstr>CMR10</vt:lpstr>
      <vt:lpstr>CMMI7</vt:lpstr>
      <vt:lpstr>CMMI5</vt:lpstr>
      <vt:lpstr>Verdana</vt:lpstr>
      <vt:lpstr>新細明體</vt:lpstr>
      <vt:lpstr>Wingdings</vt:lpstr>
      <vt:lpstr>cmsy10</vt:lpstr>
      <vt:lpstr>Calibri</vt:lpstr>
      <vt:lpstr>Solstice</vt:lpstr>
      <vt:lpstr>Acrobat Document</vt:lpstr>
      <vt:lpstr>The Combinatorial Multigrid Solver</vt:lpstr>
      <vt:lpstr>Where I am coming from</vt:lpstr>
      <vt:lpstr>CMG: A linear system solver</vt:lpstr>
      <vt:lpstr>Laplacians in efficient algebraic reductions</vt:lpstr>
      <vt:lpstr>Laplacians of weighted graphs</vt:lpstr>
      <vt:lpstr>Outline</vt:lpstr>
      <vt:lpstr>Graph preconditioning</vt:lpstr>
      <vt:lpstr>Graph preconditioning</vt:lpstr>
      <vt:lpstr>Outline</vt:lpstr>
      <vt:lpstr>Solving linear systems on Laplacians Subgraph Preconditioners</vt:lpstr>
      <vt:lpstr>Solving linear systems on Laplacians Subgraph Preconditioners</vt:lpstr>
      <vt:lpstr>Outline</vt:lpstr>
      <vt:lpstr>Steiner Preconditioners</vt:lpstr>
      <vt:lpstr>Steiner Preconditioners</vt:lpstr>
      <vt:lpstr>Steiner Preconditioners Support analysis</vt:lpstr>
      <vt:lpstr>Steiner Preconditioners Support analysis for the star</vt:lpstr>
      <vt:lpstr>Steiner Preconditioners Support analysis for the star</vt:lpstr>
      <vt:lpstr>Steiner Preconditioners Support analysis for the star</vt:lpstr>
      <vt:lpstr>Steiner Preconditioners Support graphs</vt:lpstr>
      <vt:lpstr>Steiner Preconditioners Requirements for clustering</vt:lpstr>
      <vt:lpstr>Outline</vt:lpstr>
      <vt:lpstr>Steiner Preconditioners An algebraic view</vt:lpstr>
      <vt:lpstr>Steiner Preconditioners The multigrid connection</vt:lpstr>
      <vt:lpstr>Steiner Preconditioners The multigrid connection</vt:lpstr>
      <vt:lpstr>The Combinatorial Multigrid Solver</vt:lpstr>
      <vt:lpstr>Experiments with CMG  vs Subgraph Preconditioners </vt:lpstr>
      <vt:lpstr>Thank you!</vt:lpstr>
      <vt:lpstr>Decomposition into isolated expanders</vt:lpstr>
      <vt:lpstr>Decompositions in constant  maximum effective degree graphs</vt:lpstr>
      <vt:lpstr>Construction of the Steiner preconditioner illustration by a small example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CMU solver:  combinatorial multigrid</dc:title>
  <dc:creator>Yiannis Koutis</dc:creator>
  <cp:lastModifiedBy>Yiannis Koutis</cp:lastModifiedBy>
  <cp:revision>92</cp:revision>
  <dcterms:created xsi:type="dcterms:W3CDTF">2008-07-18T01:21:21Z</dcterms:created>
  <dcterms:modified xsi:type="dcterms:W3CDTF">2009-03-23T13:13:21Z</dcterms:modified>
</cp:coreProperties>
</file>